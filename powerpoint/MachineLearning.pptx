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83" r:id="rId3"/>
    <p:sldId id="275" r:id="rId4"/>
    <p:sldId id="258" r:id="rId5"/>
    <p:sldId id="266" r:id="rId6"/>
    <p:sldId id="259" r:id="rId7"/>
    <p:sldId id="267" r:id="rId8"/>
    <p:sldId id="263" r:id="rId9"/>
    <p:sldId id="268" r:id="rId10"/>
    <p:sldId id="269" r:id="rId11"/>
    <p:sldId id="276" r:id="rId12"/>
    <p:sldId id="277" r:id="rId13"/>
    <p:sldId id="278" r:id="rId14"/>
    <p:sldId id="280" r:id="rId15"/>
    <p:sldId id="281" r:id="rId16"/>
    <p:sldId id="282" r:id="rId17"/>
    <p:sldId id="264" r:id="rId18"/>
    <p:sldId id="270" r:id="rId19"/>
    <p:sldId id="261" r:id="rId20"/>
    <p:sldId id="294" r:id="rId21"/>
    <p:sldId id="265" r:id="rId22"/>
    <p:sldId id="262" r:id="rId23"/>
    <p:sldId id="288" r:id="rId24"/>
    <p:sldId id="285" r:id="rId25"/>
    <p:sldId id="286" r:id="rId26"/>
    <p:sldId id="287" r:id="rId27"/>
    <p:sldId id="271" r:id="rId28"/>
    <p:sldId id="272" r:id="rId29"/>
    <p:sldId id="273" r:id="rId30"/>
    <p:sldId id="289" r:id="rId31"/>
    <p:sldId id="290" r:id="rId32"/>
    <p:sldId id="291" r:id="rId33"/>
    <p:sldId id="292" r:id="rId34"/>
    <p:sldId id="293" r:id="rId35"/>
    <p:sldId id="274" r:id="rId3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" id="{F51F982D-7A49-452B-9883-BFC182513B8A}">
          <p14:sldIdLst>
            <p14:sldId id="256"/>
            <p14:sldId id="283"/>
            <p14:sldId id="275"/>
          </p14:sldIdLst>
        </p14:section>
        <p14:section name="Pr" id="{EB5F2DAF-84EE-4605-B5E6-26431835ED3D}">
          <p14:sldIdLst/>
        </p14:section>
        <p14:section name="Chapter 1" id="{C446D70D-9B53-480E-9090-FFFF9F4497DB}">
          <p14:sldIdLst>
            <p14:sldId id="258"/>
            <p14:sldId id="266"/>
            <p14:sldId id="259"/>
            <p14:sldId id="267"/>
          </p14:sldIdLst>
        </p14:section>
        <p14:section name="Chapter 2" id="{FCD85C72-55EE-4384-AD67-19D871422C46}">
          <p14:sldIdLst>
            <p14:sldId id="263"/>
            <p14:sldId id="268"/>
          </p14:sldIdLst>
        </p14:section>
        <p14:section name="Animation Group" id="{B95FEF9A-36DC-4AB7-9DB5-89F173B6BCDB}">
          <p14:sldIdLst>
            <p14:sldId id="269"/>
            <p14:sldId id="276"/>
            <p14:sldId id="277"/>
            <p14:sldId id="278"/>
            <p14:sldId id="280"/>
            <p14:sldId id="281"/>
            <p14:sldId id="282"/>
          </p14:sldIdLst>
        </p14:section>
        <p14:section name="Chapter 3" id="{10F87FFC-6AE7-47A2-9579-2D6FC26B7574}">
          <p14:sldIdLst>
            <p14:sldId id="264"/>
            <p14:sldId id="270"/>
            <p14:sldId id="261"/>
            <p14:sldId id="294"/>
            <p14:sldId id="265"/>
            <p14:sldId id="262"/>
            <p14:sldId id="288"/>
            <p14:sldId id="285"/>
            <p14:sldId id="286"/>
            <p14:sldId id="287"/>
            <p14:sldId id="271"/>
            <p14:sldId id="272"/>
            <p14:sldId id="273"/>
            <p14:sldId id="289"/>
            <p14:sldId id="290"/>
            <p14:sldId id="291"/>
            <p14:sldId id="292"/>
            <p14:sldId id="293"/>
          </p14:sldIdLst>
        </p14:section>
        <p14:section name="End" id="{1A40134E-DD29-4489-9876-B9BBCD551A5A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D2D8"/>
    <a:srgbClr val="D4EDF8"/>
    <a:srgbClr val="156082"/>
    <a:srgbClr val="E7EAED"/>
    <a:srgbClr val="CC9900"/>
    <a:srgbClr val="FFCC66"/>
    <a:srgbClr val="FF8B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73" autoAdjust="0"/>
    <p:restoredTop sz="95639" autoAdjust="0"/>
  </p:normalViewPr>
  <p:slideViewPr>
    <p:cSldViewPr snapToGrid="0">
      <p:cViewPr varScale="1">
        <p:scale>
          <a:sx n="111" d="100"/>
          <a:sy n="111" d="100"/>
        </p:scale>
        <p:origin x="10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8ECEA-2D17-4A2C-BA5B-071BACF57693}" type="datetimeFigureOut">
              <a:rPr lang="vi-VN" smtClean="0"/>
              <a:t>10/01/2026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42C5A-A1D9-4F5E-9435-50880C964232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8172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42C5A-A1D9-4F5E-9435-50880C964232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35190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847C2-DCC9-801D-44E9-865915724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2093F8-FFA5-3CED-3DEB-C094FB31E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FA082-1098-108A-00D6-0E0832B12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F04F1-B625-A809-A012-63481E613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42C5A-A1D9-4F5E-9435-50880C964232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78223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42C5A-A1D9-4F5E-9435-50880C964232}" type="slidenum">
              <a:rPr lang="vi-VN" smtClean="0"/>
              <a:t>18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98424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42C5A-A1D9-4F5E-9435-50880C964232}" type="slidenum">
              <a:rPr lang="vi-VN" smtClean="0"/>
              <a:t>27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38144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D6F00-4311-CEAE-20CB-091C9FEF7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E11E3-1DC0-E834-3058-65621CF7F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C70B5-B58C-84B0-8241-C7EAFDD2E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A1C7F-FD50-42FA-8400-1E189C7F0094}" type="datetime1">
              <a:rPr lang="vi-VN" smtClean="0"/>
              <a:t>10/01/2026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C80B4-57E8-E2D4-EB16-E3BBAF181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E4441-3F8D-9EDF-821C-CDE454CEE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3F5F-E228-416B-BB6D-31EFB88A1F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33186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0A973-AC77-1C31-355E-BA61CF908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AC10E-6BE8-F279-93B3-74B322E3E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12FFF-106C-3E3C-6F4A-FFD726877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7C547-9D9C-443A-B3FE-BF22CD132779}" type="datetime1">
              <a:rPr lang="vi-VN" smtClean="0"/>
              <a:t>10/01/2026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BA96-7FC0-A7E0-6BF4-62107CD2A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E3831-9C0E-BB5A-7270-C061C7A5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3F5F-E228-416B-BB6D-31EFB88A1F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0589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DBCBB-3A4F-5691-36BD-8695FD095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800"/>
          </a:xfrm>
        </p:spPr>
        <p:txBody>
          <a:bodyPr/>
          <a:lstStyle>
            <a:lvl1pPr>
              <a:defRPr u="sng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E7E6C-8636-F034-A2E2-6BBC452EE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925"/>
            <a:ext cx="10515600" cy="5126038"/>
          </a:xfrm>
        </p:spPr>
        <p:txBody>
          <a:bodyPr/>
          <a:lstStyle>
            <a:lvl1pPr marL="0" indent="228600">
              <a:spcBef>
                <a:spcPts val="600"/>
              </a:spcBef>
              <a:spcAft>
                <a:spcPts val="600"/>
              </a:spcAft>
              <a:defRPr/>
            </a:lvl1pPr>
            <a:lvl2pPr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C2254-7D68-F9BD-83AF-592D1ECFF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B64D0-F2E1-48F2-9A23-AEC7A33184E1}" type="datetime1">
              <a:rPr lang="vi-VN" smtClean="0"/>
              <a:t>10/01/2026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FC742-AA8B-A216-6388-0DC7159BE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7316-EE5B-4AC2-2B6D-657EBCD9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3F5F-E228-416B-BB6D-31EFB88A1F2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37315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53BFD-7BBC-EAD9-4383-D54FED1D3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12" y="1828800"/>
            <a:ext cx="10593388" cy="4032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E2F963-CC98-45F3-949B-62A0A5B4C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143000"/>
            <a:ext cx="10518776" cy="685800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1FA8E-0EC8-2776-DFBF-0C8E29EA7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9B23F-6A88-4297-B6C6-FB56D232E0DE}" type="datetime1">
              <a:rPr lang="vi-VN" smtClean="0"/>
              <a:t>10/01/2026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0E7CF-3D69-124D-E2DA-05DEC98C2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BBFCC-3246-0E1E-47A6-C0A92C00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3F5F-E228-416B-BB6D-31EFB88A1F2E}" type="slidenum">
              <a:rPr lang="vi-VN" smtClean="0"/>
              <a:t>‹#›</a:t>
            </a:fld>
            <a:endParaRPr lang="vi-V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A33B0E7-0935-2D1F-89BE-4917BB47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800"/>
          </a:xfrm>
        </p:spPr>
        <p:txBody>
          <a:bodyPr/>
          <a:lstStyle>
            <a:lvl1pPr>
              <a:defRPr u="sng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64587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0178A1-2A9A-C0AF-C8E3-00EE38131B11}"/>
              </a:ext>
            </a:extLst>
          </p:cNvPr>
          <p:cNvSpPr/>
          <p:nvPr userDrawn="1"/>
        </p:nvSpPr>
        <p:spPr>
          <a:xfrm>
            <a:off x="0" y="6172201"/>
            <a:ext cx="12192000" cy="6858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6C6F4-9902-4068-11A0-11357548C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50925"/>
            <a:ext cx="10515600" cy="5126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F7B17-B415-2FFA-C70D-93F98056C8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49905-5E86-49C8-8222-3FCABC4A2481}" type="datetime1">
              <a:rPr lang="vi-VN" smtClean="0"/>
              <a:t>10/01/2026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545CE-7190-5F79-E29B-9056DC3E5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FCB87-0A2E-D09D-4026-ED451B82C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D73F5F-E228-416B-BB6D-31EFB88A1F2E}" type="slidenum">
              <a:rPr lang="vi-VN" smtClean="0"/>
              <a:t>‹#›</a:t>
            </a:fld>
            <a:endParaRPr lang="vi-V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D8FF01-A797-C444-25ED-45D52B8B9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0288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6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nbviet/vietnamese-pos-tagged-datasets/data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E8865-E7F8-F41A-CACF-9F6A46CDA8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/>
              <a:t>Nhận diện từ loại trong văn bản Tiếng Việt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6AD26-BDB5-700D-29DF-CD245ED5C2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40807D-C27C-F231-2D12-3BBBEDF4A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2263140" y="388617"/>
            <a:ext cx="8039100" cy="312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30851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6844B-FE80-7F76-3422-B7B1F8681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B6346-B7D0-5C9A-19D6-6CA1AE5906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>
                <a:solidFill>
                  <a:schemeClr val="tx2">
                    <a:lumMod val="75000"/>
                    <a:lumOff val="25000"/>
                  </a:schemeClr>
                </a:solidFill>
              </a:rPr>
              <a:t>Nhận diện từ loại</a:t>
            </a:r>
            <a:r>
              <a:rPr lang="vi-VN"/>
              <a:t> trong văn bản Tiếng Việt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C4F8F-1514-8300-FE99-3B24ABD839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46A827-9957-0C48-E158-D67CD6CE4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128713" y="3509961"/>
            <a:ext cx="9204007" cy="9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94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1476B-E21B-EFAC-4278-06F0ADA38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4CF486-A8E1-B0A7-5551-8664287C7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u="none"/>
              <a:t>Nội dung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49C5C0-405F-DD1B-EAB2-4C22F4BE6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vi-VN"/>
              <a:t>Giới thiệu bài toán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vi-VN"/>
              <a:t>Dữ liệu và tiền xử lý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vi-VN"/>
              <a:t>Phương pháp thực hiện</a:t>
            </a: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vi-VN"/>
              <a:t>Kết quả và đánh giá</a:t>
            </a: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vi-VN"/>
              <a:t>Kết luận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3D47A6-8371-9F2F-7585-10B912E96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70" y="180047"/>
            <a:ext cx="2062739" cy="87087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219EF-5D00-3B36-8746-380BA82F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8241340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2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2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5213C2-78FB-C8A3-096F-D6EA335A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I. Giới thiệu bài toán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79E6BB-6970-81C2-5E39-C456230E1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57A4BA-FC9B-0A3C-5A73-0F19DB7A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4959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987BD-7834-BCA9-D602-943386247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I. Giới thiệu bài toán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43FDAE-0210-F4F7-65A1-F78841D9A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925"/>
            <a:ext cx="10515600" cy="5126038"/>
          </a:xfrm>
        </p:spPr>
        <p:txBody>
          <a:bodyPr/>
          <a:lstStyle/>
          <a:p>
            <a:r>
              <a:rPr lang="vi-VN" b="1">
                <a:solidFill>
                  <a:schemeClr val="tx2">
                    <a:lumMod val="75000"/>
                    <a:lumOff val="25000"/>
                  </a:schemeClr>
                </a:solidFill>
              </a:rPr>
              <a:t>Nhận diện từ loại</a:t>
            </a:r>
            <a:r>
              <a:rPr lang="vi-VN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vi-VN"/>
              <a:t>(</a:t>
            </a:r>
            <a:r>
              <a:rPr lang="vi-VN" sz="2400" i="1"/>
              <a:t>Part-of-Speech - POS Tagging</a:t>
            </a:r>
            <a:r>
              <a:rPr lang="vi-VN"/>
              <a:t>) là gán cho mỗi </a:t>
            </a:r>
            <a:r>
              <a:rPr lang="vi-VN" b="1"/>
              <a:t>từ</a:t>
            </a:r>
            <a:r>
              <a:rPr lang="vi-VN"/>
              <a:t> (</a:t>
            </a:r>
            <a:r>
              <a:rPr lang="vi-VN" sz="2400" i="1"/>
              <a:t>hoặc </a:t>
            </a:r>
            <a:r>
              <a:rPr lang="vi-VN" sz="2400" b="1" i="1"/>
              <a:t>cụm từ</a:t>
            </a:r>
            <a:r>
              <a:rPr lang="vi-VN"/>
              <a:t>) trong câu một </a:t>
            </a:r>
            <a:r>
              <a:rPr lang="vi-VN" b="1"/>
              <a:t>nhãn </a:t>
            </a:r>
            <a:r>
              <a:rPr lang="vi-VN"/>
              <a:t>(</a:t>
            </a:r>
            <a:r>
              <a:rPr lang="vi-VN" sz="2400" i="1"/>
              <a:t>tag</a:t>
            </a:r>
            <a:r>
              <a:rPr lang="vi-VN"/>
              <a:t>) tương ứng với vai trò ngữ pháp của nó.</a:t>
            </a:r>
          </a:p>
          <a:p>
            <a:r>
              <a:rPr lang="vi-VN"/>
              <a:t>Ví dụ: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b="1"/>
              <a:t>N</a:t>
            </a:r>
            <a:r>
              <a:rPr lang="vi-VN"/>
              <a:t> (</a:t>
            </a:r>
            <a:r>
              <a:rPr lang="vi-VN" i="1"/>
              <a:t>Noun</a:t>
            </a:r>
            <a:r>
              <a:rPr lang="vi-VN"/>
              <a:t>): Danh từ (</a:t>
            </a:r>
            <a:r>
              <a:rPr lang="vi-VN" i="1"/>
              <a:t>sách, Hà Nội, máy tính</a:t>
            </a:r>
            <a:r>
              <a:rPr lang="vi-VN"/>
              <a:t>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b="1"/>
              <a:t>V</a:t>
            </a:r>
            <a:r>
              <a:rPr lang="vi-VN"/>
              <a:t> (</a:t>
            </a:r>
            <a:r>
              <a:rPr lang="vi-VN" i="1"/>
              <a:t>Verb</a:t>
            </a:r>
            <a:r>
              <a:rPr lang="vi-VN"/>
              <a:t>): Động từ (</a:t>
            </a:r>
            <a:r>
              <a:rPr lang="vi-VN" i="1"/>
              <a:t>đi, học, yêu cầu</a:t>
            </a:r>
            <a:r>
              <a:rPr lang="vi-VN"/>
              <a:t>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b="1"/>
              <a:t>Adj</a:t>
            </a:r>
            <a:r>
              <a:rPr lang="vi-VN"/>
              <a:t> (</a:t>
            </a:r>
            <a:r>
              <a:rPr lang="vi-VN" i="1"/>
              <a:t>Adjective</a:t>
            </a:r>
            <a:r>
              <a:rPr lang="vi-VN"/>
              <a:t>): Tính từ (</a:t>
            </a:r>
            <a:r>
              <a:rPr lang="vi-VN" i="1"/>
              <a:t>đẹp, thông minh, nhanh</a:t>
            </a:r>
            <a:r>
              <a:rPr lang="vi-VN"/>
              <a:t>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b="1"/>
              <a:t>Adv</a:t>
            </a:r>
            <a:r>
              <a:rPr lang="vi-VN"/>
              <a:t> (</a:t>
            </a:r>
            <a:r>
              <a:rPr lang="vi-VN" i="1"/>
              <a:t>Adverb</a:t>
            </a:r>
            <a:r>
              <a:rPr lang="vi-VN"/>
              <a:t>): Trạng từ (</a:t>
            </a:r>
            <a:r>
              <a:rPr lang="vi-VN" i="1"/>
              <a:t>rất, hôm nay, chậm</a:t>
            </a:r>
            <a:r>
              <a:rPr lang="vi-VN"/>
              <a:t>).</a:t>
            </a:r>
          </a:p>
          <a:p>
            <a:pPr lvl="1"/>
            <a:endParaRPr lang="vi-VN"/>
          </a:p>
          <a:p>
            <a:endParaRPr lang="vi-VN"/>
          </a:p>
          <a:p>
            <a:endParaRPr lang="vi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351D69-0ADE-DDAC-0AE4-80D3C18C8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99353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0E1D69-DC88-A65D-5656-058BEA424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I. Giới thiệu bài toán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92E0DFC-4678-5C63-1E08-F1EAE4116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1"/>
              <a:t>Ứng dụng </a:t>
            </a:r>
            <a:r>
              <a:rPr lang="vi-VN"/>
              <a:t>của </a:t>
            </a:r>
            <a:r>
              <a:rPr lang="vi-VN" b="1">
                <a:solidFill>
                  <a:schemeClr val="tx2">
                    <a:lumMod val="75000"/>
                    <a:lumOff val="25000"/>
                  </a:schemeClr>
                </a:solidFill>
              </a:rPr>
              <a:t>nhận diện từ loại</a:t>
            </a:r>
            <a:r>
              <a:rPr lang="vi-VN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/>
              <a:t>Dịch máy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/>
              <a:t>Hệ thống hỏi-đáp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/>
              <a:t>Phân tích cảm xúc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/>
              <a:t>Trích xuất thông tin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/>
              <a:t>Kiểm tra ngữ pháp</a:t>
            </a:r>
          </a:p>
          <a:p>
            <a:pPr lvl="1"/>
            <a:endParaRPr lang="vi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3ADDF7-4205-BE99-2220-4D8809A7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17455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809E4-DE95-8565-239C-EC7E212A2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I. Giới thiệu bài toán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86402-169D-94E4-35AE-CC33AE06F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1"/>
              <a:t>Mục tiêu bài toán</a:t>
            </a:r>
            <a:r>
              <a:rPr lang="vi-VN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/>
              <a:t>Ứng dụng </a:t>
            </a:r>
            <a:r>
              <a:rPr lang="vi-VN" b="1">
                <a:solidFill>
                  <a:schemeClr val="accent2">
                    <a:lumMod val="75000"/>
                  </a:schemeClr>
                </a:solidFill>
              </a:rPr>
              <a:t>PhoBERT.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/>
              <a:t>Xây dựng và so sánh các Mô hình phân loại.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/>
              <a:t>Nghiên cứu Tối ưu hóa Đặc trưng.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AD4927-1BB1-88E7-1F1D-DA358206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7</a:t>
            </a:r>
          </a:p>
        </p:txBody>
      </p:sp>
      <p:cxnSp>
        <p:nvCxnSpPr>
          <p:cNvPr id="16" name="!Slash">
            <a:extLst>
              <a:ext uri="{FF2B5EF4-FFF2-40B4-BE49-F238E27FC236}">
                <a16:creationId xmlns:a16="http://schemas.microsoft.com/office/drawing/2014/main" id="{597B7E95-2D00-0CCA-6F6E-BA4D2CE99251}"/>
              </a:ext>
            </a:extLst>
          </p:cNvPr>
          <p:cNvCxnSpPr>
            <a:cxnSpLocks/>
          </p:cNvCxnSpPr>
          <p:nvPr/>
        </p:nvCxnSpPr>
        <p:spPr>
          <a:xfrm>
            <a:off x="1348740" y="4450080"/>
            <a:ext cx="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965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0BE786-BA80-BCFD-8AEB-46DDEBB4F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36726"/>
            <a:ext cx="10515600" cy="2852737"/>
          </a:xfrm>
        </p:spPr>
        <p:txBody>
          <a:bodyPr/>
          <a:lstStyle/>
          <a:p>
            <a:r>
              <a:rPr lang="vi-VN"/>
              <a:t>II. Dữ liệu và tiền xử lý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CB356-7C17-9120-D20E-D856A1FBA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FC0C7A-B4EF-6463-D3DA-C6495E77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8</a:t>
            </a:r>
          </a:p>
        </p:txBody>
      </p:sp>
      <p:cxnSp>
        <p:nvCxnSpPr>
          <p:cNvPr id="2" name="!Slash">
            <a:extLst>
              <a:ext uri="{FF2B5EF4-FFF2-40B4-BE49-F238E27FC236}">
                <a16:creationId xmlns:a16="http://schemas.microsoft.com/office/drawing/2014/main" id="{611D1F56-8C9B-AF44-998E-F6A1F88B27CB}"/>
              </a:ext>
            </a:extLst>
          </p:cNvPr>
          <p:cNvCxnSpPr>
            <a:cxnSpLocks/>
          </p:cNvCxnSpPr>
          <p:nvPr/>
        </p:nvCxnSpPr>
        <p:spPr>
          <a:xfrm>
            <a:off x="906780" y="4450080"/>
            <a:ext cx="7589520" cy="0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82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121E1-1386-9BC9-C48A-083F5EA38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!Slash">
            <a:extLst>
              <a:ext uri="{FF2B5EF4-FFF2-40B4-BE49-F238E27FC236}">
                <a16:creationId xmlns:a16="http://schemas.microsoft.com/office/drawing/2014/main" id="{FB8B6DEA-3674-0AF7-D42A-82E7F9F5AF3C}"/>
              </a:ext>
            </a:extLst>
          </p:cNvPr>
          <p:cNvCxnSpPr>
            <a:cxnSpLocks/>
          </p:cNvCxnSpPr>
          <p:nvPr/>
        </p:nvCxnSpPr>
        <p:spPr>
          <a:xfrm>
            <a:off x="990600" y="934720"/>
            <a:ext cx="490728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B261EA6-3A88-8ECD-C23F-AC8587576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II. Dữ liệu và tiền xử lý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ED335-9ACD-80D9-1684-874F50AAE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Sử dụng bộ dữ liệu: </a:t>
            </a:r>
            <a:r>
              <a:rPr lang="vi-VN">
                <a:hlinkClick r:id="rId2"/>
              </a:rPr>
              <a:t>vietnamese-pos-tagged-datasets</a:t>
            </a:r>
            <a:endParaRPr lang="vi-VN"/>
          </a:p>
          <a:p>
            <a:r>
              <a:rPr lang="vi-VN"/>
              <a:t>Dữ liệu huấn luyện và kiểm thử ban đầu được lấy từ các tệp văn bản “</a:t>
            </a:r>
            <a:r>
              <a:rPr lang="vi-VN" i="1"/>
              <a:t>.txt</a:t>
            </a:r>
            <a:r>
              <a:rPr lang="vi-VN"/>
              <a:t>”, trong đó mỗi câu được biểu diễn bởi các cặp </a:t>
            </a:r>
            <a:r>
              <a:rPr lang="vi-VN" b="1"/>
              <a:t>từ/nhãn </a:t>
            </a:r>
            <a:r>
              <a:rPr lang="vi-VN" i="1"/>
              <a:t>(</a:t>
            </a:r>
            <a:r>
              <a:rPr lang="vi-VN" sz="2400" i="1"/>
              <a:t>token/label</a:t>
            </a:r>
            <a:r>
              <a:rPr lang="vi-VN" i="1"/>
              <a:t>).</a:t>
            </a:r>
          </a:p>
          <a:p>
            <a:r>
              <a:rPr lang="vi-VN" b="1"/>
              <a:t>Ví dụ</a:t>
            </a:r>
            <a:r>
              <a:rPr lang="vi-VN"/>
              <a:t>: </a:t>
            </a:r>
          </a:p>
          <a:p>
            <a:r>
              <a:rPr lang="vi-VN" b="1"/>
              <a:t>Lý do cần tiền xử lý</a:t>
            </a:r>
            <a:r>
              <a:rPr lang="vi-VN"/>
              <a:t>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/>
              <a:t>Sai lệch định dạng trong quá trình thu thập.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/>
              <a:t>Một số token có thể chứa lỗi ký tự hoặc bị gộp sai.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5BFE54-3796-78E7-4C64-A079DAD8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EB631F-3C6E-612B-6237-029AEB965351}"/>
              </a:ext>
            </a:extLst>
          </p:cNvPr>
          <p:cNvSpPr txBox="1"/>
          <p:nvPr/>
        </p:nvSpPr>
        <p:spPr>
          <a:xfrm>
            <a:off x="2057400" y="2467907"/>
            <a:ext cx="9212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Thế_là/C   Phúc/Np lao/Vvào/E cuộc/N chiến_đấu/V ./.</a:t>
            </a:r>
          </a:p>
        </p:txBody>
      </p:sp>
      <p:cxnSp>
        <p:nvCxnSpPr>
          <p:cNvPr id="11" name="!Slash">
            <a:extLst>
              <a:ext uri="{FF2B5EF4-FFF2-40B4-BE49-F238E27FC236}">
                <a16:creationId xmlns:a16="http://schemas.microsoft.com/office/drawing/2014/main" id="{6E664FB2-AEAD-3442-F755-4B1FD514F9F8}"/>
              </a:ext>
            </a:extLst>
          </p:cNvPr>
          <p:cNvCxnSpPr>
            <a:cxnSpLocks/>
          </p:cNvCxnSpPr>
          <p:nvPr/>
        </p:nvCxnSpPr>
        <p:spPr>
          <a:xfrm>
            <a:off x="990600" y="945230"/>
            <a:ext cx="4907280" cy="0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928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5AA5D-DEDF-F1D2-A51B-7F7962FB6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II. Dữ liệu và tiền xử lý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FB1E8-C031-A0F3-1643-00FFF73B4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vi-VN" b="1"/>
          </a:p>
          <a:p>
            <a:r>
              <a:rPr lang="vi-VN" b="1"/>
              <a:t>Quy trình xử lý</a:t>
            </a:r>
            <a:r>
              <a:rPr lang="vi-VN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Dữ liệu định dạng “</a:t>
            </a:r>
            <a:r>
              <a:rPr lang="vi-VN" i="1"/>
              <a:t>.txt</a:t>
            </a:r>
            <a:r>
              <a:rPr lang="vi-VN"/>
              <a:t>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Làm sạch dữ liệu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Tách các token dính vào nhau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Loại bỏ khoảng trắng thừa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Chuẩn hóa từ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Chuyển về chữ thường (lowercase)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Thay thế dấu “_” bằng khoảng trắng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Tách từ và nhãn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['thế là', 'phúc', 'lao', 'vào', 'cuộc', 'chiến đấu', '.']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['C', 'Np', 'V', 'E', 'N', 'V', 'PUNCT']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Dữ liệu định dạng “</a:t>
            </a:r>
            <a:r>
              <a:rPr lang="vi-VN" i="1">
                <a:solidFill>
                  <a:schemeClr val="bg1">
                    <a:lumMod val="65000"/>
                  </a:schemeClr>
                </a:solidFill>
              </a:rPr>
              <a:t>.jsonl</a:t>
            </a:r>
            <a:r>
              <a:rPr lang="vi-VN">
                <a:solidFill>
                  <a:schemeClr val="bg1">
                    <a:lumMod val="65000"/>
                  </a:schemeClr>
                </a:solidFill>
              </a:rPr>
              <a:t>”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A789C981-3AF3-322D-84A6-9737C67F3523}"/>
              </a:ext>
            </a:extLst>
          </p:cNvPr>
          <p:cNvSpPr/>
          <p:nvPr/>
        </p:nvSpPr>
        <p:spPr>
          <a:xfrm>
            <a:off x="1016000" y="2225674"/>
            <a:ext cx="333375" cy="15784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D2EBC-1F4E-AB0A-7D62-8759375A1EFA}"/>
              </a:ext>
            </a:extLst>
          </p:cNvPr>
          <p:cNvSpPr txBox="1"/>
          <p:nvPr/>
        </p:nvSpPr>
        <p:spPr>
          <a:xfrm>
            <a:off x="1066800" y="1004867"/>
            <a:ext cx="9212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Thế_là/C   Phúc/Np lao/Vvào/E cuộc/N chiến_đấu/V ./.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3246D57D-72D1-DB04-66BF-D52419D4C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vi-VN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0898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D470E-049E-CC91-7912-6AC0D4A0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C4380-FF98-6CFA-3A53-589DB08C0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II. Dữ liệu và tiền xử lý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467F9-AF93-347D-BAFB-50C7E80E8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vi-VN" b="1"/>
          </a:p>
          <a:p>
            <a:r>
              <a:rPr lang="vi-VN" b="1"/>
              <a:t>Quy trình xử lý</a:t>
            </a:r>
            <a:r>
              <a:rPr lang="vi-VN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2">
                    <a:lumMod val="75000"/>
                  </a:schemeClr>
                </a:solidFill>
              </a:rPr>
              <a:t>Dữ liệu định dạng “</a:t>
            </a:r>
            <a:r>
              <a:rPr lang="vi-VN" i="1">
                <a:solidFill>
                  <a:schemeClr val="bg2">
                    <a:lumMod val="75000"/>
                  </a:schemeClr>
                </a:solidFill>
              </a:rPr>
              <a:t>.txt</a:t>
            </a:r>
            <a:r>
              <a:rPr lang="vi-VN">
                <a:solidFill>
                  <a:schemeClr val="bg2">
                    <a:lumMod val="75000"/>
                  </a:schemeClr>
                </a:solidFill>
              </a:rPr>
              <a:t>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Làm sạch dữ liệu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/>
              <a:t>Tách các token dính vào nhau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Loại bỏ khoảng trắng thừa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Chuẩn hóa từ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Chuyển về chữ thường (lowercase)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Thay thế dấu “_” bằng khoảng trắng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Tách từ và nhãn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['thế là', 'phúc', 'lao', 'vào', 'cuộc', 'chiến đấu', '.']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['C', 'Np', 'V', 'E', 'N', 'V', 'PUNCT']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Dữ liệu định dạng “</a:t>
            </a:r>
            <a:r>
              <a:rPr lang="vi-VN" i="1">
                <a:solidFill>
                  <a:schemeClr val="bg1">
                    <a:lumMod val="65000"/>
                  </a:schemeClr>
                </a:solidFill>
              </a:rPr>
              <a:t>.jsonl</a:t>
            </a:r>
            <a:r>
              <a:rPr lang="vi-VN">
                <a:solidFill>
                  <a:schemeClr val="bg1">
                    <a:lumMod val="65000"/>
                  </a:schemeClr>
                </a:solidFill>
              </a:rPr>
              <a:t>”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B393596-CAD7-5C66-B16D-4CC1E0EC8E3D}"/>
              </a:ext>
            </a:extLst>
          </p:cNvPr>
          <p:cNvSpPr/>
          <p:nvPr/>
        </p:nvSpPr>
        <p:spPr>
          <a:xfrm>
            <a:off x="1016000" y="2966242"/>
            <a:ext cx="333375" cy="15784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E2C624-15B8-9F00-C6B0-E236B634DA0F}"/>
              </a:ext>
            </a:extLst>
          </p:cNvPr>
          <p:cNvSpPr/>
          <p:nvPr/>
        </p:nvSpPr>
        <p:spPr>
          <a:xfrm>
            <a:off x="4053840" y="1050925"/>
            <a:ext cx="1661160" cy="442595"/>
          </a:xfrm>
          <a:prstGeom prst="rect">
            <a:avLst/>
          </a:prstGeom>
          <a:noFill/>
          <a:ln>
            <a:solidFill>
              <a:srgbClr val="FF8B8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950D75-D88D-E179-AFB0-DF7353C4F857}"/>
              </a:ext>
            </a:extLst>
          </p:cNvPr>
          <p:cNvSpPr txBox="1"/>
          <p:nvPr/>
        </p:nvSpPr>
        <p:spPr>
          <a:xfrm>
            <a:off x="1066800" y="1004867"/>
            <a:ext cx="9212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Thế_là/C   Phúc/Np lao/Vvào/E cuộc/N chiến_đấu/V ./.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BE1098-B677-2BAE-704E-155689914DB9}"/>
              </a:ext>
            </a:extLst>
          </p:cNvPr>
          <p:cNvSpPr/>
          <p:nvPr/>
        </p:nvSpPr>
        <p:spPr>
          <a:xfrm>
            <a:off x="4053840" y="1050925"/>
            <a:ext cx="1661160" cy="442595"/>
          </a:xfrm>
          <a:prstGeom prst="rect">
            <a:avLst/>
          </a:prstGeom>
          <a:noFill/>
          <a:ln>
            <a:solidFill>
              <a:srgbClr val="FF8B8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21D09918-F48C-77DE-567C-FC3BB2431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vi-VN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85295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4BBDC-0D2B-4416-50B0-3722F27F9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4FEB78-8A20-D6E6-0EC3-532498F698BF}"/>
              </a:ext>
            </a:extLst>
          </p:cNvPr>
          <p:cNvSpPr txBox="1"/>
          <p:nvPr/>
        </p:nvSpPr>
        <p:spPr>
          <a:xfrm>
            <a:off x="1066800" y="1004867"/>
            <a:ext cx="9212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Thế_là/C   Phúc/Np lao/Vvào/E cuộc/N chiến_đấu/V ./.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5CD65-8849-C08A-BBD4-CCD21643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II. Dữ liệu và tiền xử lý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46D67-6ADA-9FEF-D2E8-0575D0F50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vi-VN" b="1"/>
          </a:p>
          <a:p>
            <a:r>
              <a:rPr lang="vi-VN" b="1"/>
              <a:t>Quy trình xử lý</a:t>
            </a:r>
            <a:r>
              <a:rPr lang="vi-VN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2">
                    <a:lumMod val="75000"/>
                  </a:schemeClr>
                </a:solidFill>
              </a:rPr>
              <a:t>Dữ liệu định dạng “</a:t>
            </a:r>
            <a:r>
              <a:rPr lang="vi-VN" i="1">
                <a:solidFill>
                  <a:schemeClr val="bg2">
                    <a:lumMod val="75000"/>
                  </a:schemeClr>
                </a:solidFill>
              </a:rPr>
              <a:t>.txt</a:t>
            </a:r>
            <a:r>
              <a:rPr lang="vi-VN">
                <a:solidFill>
                  <a:schemeClr val="bg2">
                    <a:lumMod val="75000"/>
                  </a:schemeClr>
                </a:solidFill>
              </a:rPr>
              <a:t>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Làm sạch dữ liệu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Tách các token dính vào nhau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/>
              <a:t>Loại bỏ khoảng trắng thừa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Chuẩn hóa từ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Chuyển về chữ thường (lowercase)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Thay thế dấu “_” bằng khoảng trắng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Tách từ và nhãn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['thế là', 'phúc', 'lao', 'vào', 'cuộc', 'chiến đấu', '.']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['C', 'Np', 'V', 'E', 'N', 'V', 'PUNCT']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Dữ liệu định dạng “</a:t>
            </a:r>
            <a:r>
              <a:rPr lang="vi-VN" i="1">
                <a:solidFill>
                  <a:schemeClr val="bg1">
                    <a:lumMod val="65000"/>
                  </a:schemeClr>
                </a:solidFill>
              </a:rPr>
              <a:t>.jsonl</a:t>
            </a:r>
            <a:r>
              <a:rPr lang="vi-VN">
                <a:solidFill>
                  <a:schemeClr val="bg1">
                    <a:lumMod val="65000"/>
                  </a:schemeClr>
                </a:solidFill>
              </a:rPr>
              <a:t>”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4AC6906D-6289-CBD8-A22E-39FF66357091}"/>
              </a:ext>
            </a:extLst>
          </p:cNvPr>
          <p:cNvSpPr/>
          <p:nvPr/>
        </p:nvSpPr>
        <p:spPr>
          <a:xfrm>
            <a:off x="1016000" y="3324382"/>
            <a:ext cx="333375" cy="15784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93C75E-9996-6852-7808-72A2AD97B819}"/>
              </a:ext>
            </a:extLst>
          </p:cNvPr>
          <p:cNvSpPr/>
          <p:nvPr/>
        </p:nvSpPr>
        <p:spPr>
          <a:xfrm>
            <a:off x="2491740" y="1050925"/>
            <a:ext cx="289560" cy="442595"/>
          </a:xfrm>
          <a:prstGeom prst="rect">
            <a:avLst/>
          </a:prstGeom>
          <a:noFill/>
          <a:ln>
            <a:solidFill>
              <a:srgbClr val="FF8B8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18FD81-F41F-A7CE-5101-1AD072477088}"/>
              </a:ext>
            </a:extLst>
          </p:cNvPr>
          <p:cNvSpPr/>
          <p:nvPr/>
        </p:nvSpPr>
        <p:spPr>
          <a:xfrm>
            <a:off x="2491740" y="1045179"/>
            <a:ext cx="289560" cy="442595"/>
          </a:xfrm>
          <a:prstGeom prst="rect">
            <a:avLst/>
          </a:prstGeom>
          <a:noFill/>
          <a:ln>
            <a:solidFill>
              <a:srgbClr val="FF8B8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FFD208B-7D0D-E670-8C4F-B1A60E09E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vi-VN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22134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97C8B-1FEC-76AC-2271-854221562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F11AE-DA59-4DF9-973C-2CB0A5775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II. Dữ liệu và tiền xử lý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94682-2256-B956-C057-E6F3A4AD8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vi-VN" b="1"/>
          </a:p>
          <a:p>
            <a:r>
              <a:rPr lang="vi-VN" b="1"/>
              <a:t>Quy trình xử lý</a:t>
            </a:r>
            <a:r>
              <a:rPr lang="vi-VN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2">
                    <a:lumMod val="75000"/>
                  </a:schemeClr>
                </a:solidFill>
              </a:rPr>
              <a:t>Dữ liệu định dạng “</a:t>
            </a:r>
            <a:r>
              <a:rPr lang="vi-VN" i="1">
                <a:solidFill>
                  <a:schemeClr val="bg2">
                    <a:lumMod val="75000"/>
                  </a:schemeClr>
                </a:solidFill>
              </a:rPr>
              <a:t>.txt</a:t>
            </a:r>
            <a:r>
              <a:rPr lang="vi-VN">
                <a:solidFill>
                  <a:schemeClr val="bg2">
                    <a:lumMod val="75000"/>
                  </a:schemeClr>
                </a:solidFill>
              </a:rPr>
              <a:t>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Làm sạch dữ liệu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Tách các token dính vào nhau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Loại bỏ khoảng trắng thừa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Chuẩn hóa từ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/>
              <a:t>Chuyển về chữ thường (lowercase)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Thay thế dấu “_” bằng khoảng trắng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Tách từ và nhãn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['thế là', 'phúc', 'lao', 'vào', 'cuộc', 'chiến đấu', '.']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['C', 'Np', 'V', 'E', 'N', 'V', 'PUNCT']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Dữ liệu định dạng “</a:t>
            </a:r>
            <a:r>
              <a:rPr lang="vi-VN" i="1">
                <a:solidFill>
                  <a:schemeClr val="bg1">
                    <a:lumMod val="65000"/>
                  </a:schemeClr>
                </a:solidFill>
              </a:rPr>
              <a:t>.jsonl</a:t>
            </a:r>
            <a:r>
              <a:rPr lang="vi-VN">
                <a:solidFill>
                  <a:schemeClr val="bg1">
                    <a:lumMod val="65000"/>
                  </a:schemeClr>
                </a:solidFill>
              </a:rPr>
              <a:t>”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6705316-AD7A-E34F-0011-0552D720CD28}"/>
              </a:ext>
            </a:extLst>
          </p:cNvPr>
          <p:cNvSpPr/>
          <p:nvPr/>
        </p:nvSpPr>
        <p:spPr>
          <a:xfrm>
            <a:off x="1016000" y="4055902"/>
            <a:ext cx="333375" cy="15784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268695-8D45-4784-68ED-680C00A2ADD6}"/>
              </a:ext>
            </a:extLst>
          </p:cNvPr>
          <p:cNvSpPr/>
          <p:nvPr/>
        </p:nvSpPr>
        <p:spPr>
          <a:xfrm>
            <a:off x="1158240" y="1050925"/>
            <a:ext cx="609600" cy="442595"/>
          </a:xfrm>
          <a:prstGeom prst="rect">
            <a:avLst/>
          </a:prstGeom>
          <a:noFill/>
          <a:ln>
            <a:solidFill>
              <a:srgbClr val="FF8B8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A9347B-B03C-4229-A99A-1D952E8618DC}"/>
              </a:ext>
            </a:extLst>
          </p:cNvPr>
          <p:cNvSpPr/>
          <p:nvPr/>
        </p:nvSpPr>
        <p:spPr>
          <a:xfrm>
            <a:off x="1158240" y="1050925"/>
            <a:ext cx="609600" cy="442595"/>
          </a:xfrm>
          <a:prstGeom prst="rect">
            <a:avLst/>
          </a:prstGeom>
          <a:noFill/>
          <a:ln>
            <a:solidFill>
              <a:srgbClr val="FF8B8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AC0FF2-3EE4-DD30-D0C2-F6A8775EDD2E}"/>
              </a:ext>
            </a:extLst>
          </p:cNvPr>
          <p:cNvSpPr txBox="1"/>
          <p:nvPr/>
        </p:nvSpPr>
        <p:spPr>
          <a:xfrm>
            <a:off x="1066800" y="1004867"/>
            <a:ext cx="9212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Thế_là/C   Phúc/Np lao/Vvào/E cuộc/N chiến_đấu/V ./.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ED1692F1-52BB-8CD0-94C9-218D8FD1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vi-VN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76868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820EE-F0C2-0254-64FF-CFB5C7C86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53FD6-D77B-0B44-B768-B809B83F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II. Dữ liệu và tiền xử lý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5AE70-032D-1E9A-B8A1-5A232CED8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vi-VN" b="1"/>
          </a:p>
          <a:p>
            <a:r>
              <a:rPr lang="vi-VN" b="1"/>
              <a:t>Quy trình xử lý</a:t>
            </a:r>
            <a:r>
              <a:rPr lang="vi-VN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2">
                    <a:lumMod val="75000"/>
                  </a:schemeClr>
                </a:solidFill>
              </a:rPr>
              <a:t>Dữ liệu định dạng “</a:t>
            </a:r>
            <a:r>
              <a:rPr lang="vi-VN" i="1">
                <a:solidFill>
                  <a:schemeClr val="bg2">
                    <a:lumMod val="75000"/>
                  </a:schemeClr>
                </a:solidFill>
              </a:rPr>
              <a:t>.txt</a:t>
            </a:r>
            <a:r>
              <a:rPr lang="vi-VN">
                <a:solidFill>
                  <a:schemeClr val="bg2">
                    <a:lumMod val="75000"/>
                  </a:schemeClr>
                </a:solidFill>
              </a:rPr>
              <a:t>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Làm sạch dữ liệu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Tách các token dính vào nhau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Loại bỏ khoảng trắng thừa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Chuẩn hóa từ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Chuyển về chữ thường (lowercase)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/>
              <a:t>Thay thế dấu “_” bằng khoảng trắng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Tách từ và nhãn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['thế là', 'phúc', 'lao', 'vào', 'cuộc', 'chiến đấu', '.']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['C', 'Np', 'V', 'E', 'N', 'V', 'PUNCT']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Dữ liệu định dạng “</a:t>
            </a:r>
            <a:r>
              <a:rPr lang="vi-VN" i="1">
                <a:solidFill>
                  <a:schemeClr val="bg1">
                    <a:lumMod val="65000"/>
                  </a:schemeClr>
                </a:solidFill>
              </a:rPr>
              <a:t>.jsonl</a:t>
            </a:r>
            <a:r>
              <a:rPr lang="vi-VN">
                <a:solidFill>
                  <a:schemeClr val="bg1">
                    <a:lumMod val="65000"/>
                  </a:schemeClr>
                </a:solidFill>
              </a:rPr>
              <a:t>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B20AAF-63BC-F17A-474D-874439161918}"/>
              </a:ext>
            </a:extLst>
          </p:cNvPr>
          <p:cNvSpPr/>
          <p:nvPr/>
        </p:nvSpPr>
        <p:spPr>
          <a:xfrm>
            <a:off x="1638300" y="1050925"/>
            <a:ext cx="274320" cy="442595"/>
          </a:xfrm>
          <a:prstGeom prst="rect">
            <a:avLst/>
          </a:prstGeom>
          <a:noFill/>
          <a:ln>
            <a:solidFill>
              <a:srgbClr val="FF8B8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229632C-3B99-203B-D346-DB3636DFDB84}"/>
              </a:ext>
            </a:extLst>
          </p:cNvPr>
          <p:cNvSpPr/>
          <p:nvPr/>
        </p:nvSpPr>
        <p:spPr>
          <a:xfrm>
            <a:off x="1016000" y="4398802"/>
            <a:ext cx="333375" cy="15784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2E9C28-5822-6D92-5FA0-873C315E754E}"/>
              </a:ext>
            </a:extLst>
          </p:cNvPr>
          <p:cNvSpPr/>
          <p:nvPr/>
        </p:nvSpPr>
        <p:spPr>
          <a:xfrm>
            <a:off x="7589520" y="1050924"/>
            <a:ext cx="274320" cy="442595"/>
          </a:xfrm>
          <a:prstGeom prst="rect">
            <a:avLst/>
          </a:prstGeom>
          <a:noFill/>
          <a:ln>
            <a:solidFill>
              <a:srgbClr val="FF8B8B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F0C1F4-E7DF-C369-9CD5-BE3204720C81}"/>
              </a:ext>
            </a:extLst>
          </p:cNvPr>
          <p:cNvSpPr txBox="1"/>
          <p:nvPr/>
        </p:nvSpPr>
        <p:spPr>
          <a:xfrm>
            <a:off x="1066800" y="1004867"/>
            <a:ext cx="9212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Thế_là/C   Phúc/Np lao/Vvào/E cuộc/N chiến_đấu/V ./.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8E885041-C6EB-BCB9-93F3-2A08A22D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vi-VN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67557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1AA85-7F24-4411-6C1E-3FA86B37C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1C23F-ACE7-4905-73A0-6C973B8F8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II. Dữ liệu và tiền xử lý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31BFE-6521-6F25-70EC-D35A0F065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20" y="1050925"/>
            <a:ext cx="10515600" cy="5126038"/>
          </a:xfrm>
        </p:spPr>
        <p:txBody>
          <a:bodyPr>
            <a:normAutofit/>
          </a:bodyPr>
          <a:lstStyle/>
          <a:p>
            <a:endParaRPr lang="vi-VN" b="1"/>
          </a:p>
          <a:p>
            <a:r>
              <a:rPr lang="vi-VN" b="1"/>
              <a:t>Quy trình xử lý</a:t>
            </a:r>
            <a:r>
              <a:rPr lang="vi-VN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2">
                    <a:lumMod val="75000"/>
                  </a:schemeClr>
                </a:solidFill>
              </a:rPr>
              <a:t>Dữ liệu định dạng “</a:t>
            </a:r>
            <a:r>
              <a:rPr lang="vi-VN" i="1">
                <a:solidFill>
                  <a:schemeClr val="bg2">
                    <a:lumMod val="75000"/>
                  </a:schemeClr>
                </a:solidFill>
              </a:rPr>
              <a:t>.txt</a:t>
            </a:r>
            <a:r>
              <a:rPr lang="vi-VN">
                <a:solidFill>
                  <a:schemeClr val="bg2">
                    <a:lumMod val="75000"/>
                  </a:schemeClr>
                </a:solidFill>
              </a:rPr>
              <a:t>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Làm sạch dữ liệu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Tách các token dính vào nhau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Loại bỏ khoảng trắng thừa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Chuẩn hóa từ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Chuyển về chữ thường (lowercase)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>
                <a:solidFill>
                  <a:schemeClr val="bg1">
                    <a:lumMod val="65000"/>
                  </a:schemeClr>
                </a:solidFill>
              </a:rPr>
              <a:t>Thay thế dấu “_” bằng khoảng trắng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Tách từ và nhãn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/>
              <a:t>['</a:t>
            </a:r>
            <a:r>
              <a:rPr lang="vi-VN">
                <a:solidFill>
                  <a:schemeClr val="tx2">
                    <a:lumMod val="75000"/>
                    <a:lumOff val="25000"/>
                  </a:schemeClr>
                </a:solidFill>
              </a:rPr>
              <a:t>thế là</a:t>
            </a:r>
            <a:r>
              <a:rPr lang="vi-VN"/>
              <a:t>', '</a:t>
            </a:r>
            <a:r>
              <a:rPr lang="vi-VN">
                <a:solidFill>
                  <a:schemeClr val="accent2">
                    <a:lumMod val="75000"/>
                  </a:schemeClr>
                </a:solidFill>
              </a:rPr>
              <a:t>phúc</a:t>
            </a:r>
            <a:r>
              <a:rPr lang="vi-VN"/>
              <a:t>', '</a:t>
            </a:r>
            <a:r>
              <a:rPr lang="vi-VN">
                <a:solidFill>
                  <a:schemeClr val="accent5">
                    <a:lumMod val="75000"/>
                  </a:schemeClr>
                </a:solidFill>
              </a:rPr>
              <a:t>lao</a:t>
            </a:r>
            <a:r>
              <a:rPr lang="vi-VN"/>
              <a:t>', '</a:t>
            </a:r>
            <a:r>
              <a:rPr lang="vi-VN">
                <a:solidFill>
                  <a:schemeClr val="accent6">
                    <a:lumMod val="75000"/>
                  </a:schemeClr>
                </a:solidFill>
              </a:rPr>
              <a:t>vào</a:t>
            </a:r>
            <a:r>
              <a:rPr lang="vi-VN"/>
              <a:t>', '</a:t>
            </a:r>
            <a:r>
              <a:rPr lang="vi-VN">
                <a:solidFill>
                  <a:srgbClr val="C00000"/>
                </a:solidFill>
              </a:rPr>
              <a:t>cuộc</a:t>
            </a:r>
            <a:r>
              <a:rPr lang="vi-VN"/>
              <a:t>', '</a:t>
            </a:r>
            <a:r>
              <a:rPr lang="vi-VN">
                <a:solidFill>
                  <a:srgbClr val="CC9900"/>
                </a:solidFill>
              </a:rPr>
              <a:t>chiến đấu</a:t>
            </a:r>
            <a:r>
              <a:rPr lang="vi-VN"/>
              <a:t>', '.']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/>
              <a:t>['</a:t>
            </a:r>
            <a:r>
              <a:rPr lang="vi-VN">
                <a:solidFill>
                  <a:schemeClr val="tx2">
                    <a:lumMod val="75000"/>
                    <a:lumOff val="25000"/>
                  </a:schemeClr>
                </a:solidFill>
              </a:rPr>
              <a:t>C</a:t>
            </a:r>
            <a:r>
              <a:rPr lang="vi-VN"/>
              <a:t>', '</a:t>
            </a:r>
            <a:r>
              <a:rPr lang="vi-VN">
                <a:solidFill>
                  <a:schemeClr val="accent2">
                    <a:lumMod val="75000"/>
                  </a:schemeClr>
                </a:solidFill>
              </a:rPr>
              <a:t>Np</a:t>
            </a:r>
            <a:r>
              <a:rPr lang="vi-VN"/>
              <a:t>', '</a:t>
            </a:r>
            <a:r>
              <a:rPr lang="vi-VN">
                <a:solidFill>
                  <a:schemeClr val="accent5">
                    <a:lumMod val="75000"/>
                  </a:schemeClr>
                </a:solidFill>
              </a:rPr>
              <a:t>V</a:t>
            </a:r>
            <a:r>
              <a:rPr lang="vi-VN"/>
              <a:t>', '</a:t>
            </a:r>
            <a:r>
              <a:rPr lang="vi-VN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vi-VN"/>
              <a:t>', '</a:t>
            </a:r>
            <a:r>
              <a:rPr lang="vi-VN">
                <a:solidFill>
                  <a:srgbClr val="C00000"/>
                </a:solidFill>
              </a:rPr>
              <a:t>N</a:t>
            </a:r>
            <a:r>
              <a:rPr lang="vi-VN"/>
              <a:t>', '</a:t>
            </a:r>
            <a:r>
              <a:rPr lang="vi-VN">
                <a:solidFill>
                  <a:srgbClr val="CC9900"/>
                </a:solidFill>
              </a:rPr>
              <a:t>V</a:t>
            </a:r>
            <a:r>
              <a:rPr lang="vi-VN"/>
              <a:t>', 'PUNCT']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Dữ liệu định dạng “</a:t>
            </a:r>
            <a:r>
              <a:rPr lang="vi-VN" i="1"/>
              <a:t>.jsonl</a:t>
            </a:r>
            <a:r>
              <a:rPr lang="vi-VN"/>
              <a:t>”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2F32BBC-8E2F-2408-444C-4CC921FB7529}"/>
              </a:ext>
            </a:extLst>
          </p:cNvPr>
          <p:cNvSpPr/>
          <p:nvPr/>
        </p:nvSpPr>
        <p:spPr>
          <a:xfrm>
            <a:off x="1016000" y="4756942"/>
            <a:ext cx="333375" cy="15784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B9D918-F880-C48E-0A51-09B28C920875}"/>
              </a:ext>
            </a:extLst>
          </p:cNvPr>
          <p:cNvSpPr txBox="1"/>
          <p:nvPr/>
        </p:nvSpPr>
        <p:spPr>
          <a:xfrm>
            <a:off x="1066800" y="1004867"/>
            <a:ext cx="9212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Thế_là/C   Phúc/Np lao/Vvào/E cuộc/N chiến_đấu/V ./.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B9FC8A6-74FE-AB39-B871-19F99801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vi-VN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66897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A4C8A-1CC6-7F8D-D165-3EA96162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D461-E186-295B-E616-265175009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II. Dữ liệu và tiền xử lý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01AA7-E7BF-B7F9-44E7-4643B347D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vi-VN" b="1"/>
          </a:p>
          <a:p>
            <a:r>
              <a:rPr lang="vi-VN" b="1"/>
              <a:t>Quy trình xử lý</a:t>
            </a:r>
            <a:r>
              <a:rPr lang="vi-VN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Dữ liệu định dạng “</a:t>
            </a:r>
            <a:r>
              <a:rPr lang="vi-VN" i="1"/>
              <a:t>.txt</a:t>
            </a:r>
            <a:r>
              <a:rPr lang="vi-VN"/>
              <a:t>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Làm sạch dữ liệu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/>
              <a:t>Tách các token dính vào nhau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/>
              <a:t>Loại bỏ khoảng trắng thừa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Chuẩn hóa từ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/>
              <a:t>Chuyển về chữ thường (lowercase)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vi-VN"/>
              <a:t>Thay thế dấu “_” bằng khoảng trắng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Tách từ và nhãn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/>
              <a:t>['</a:t>
            </a:r>
            <a:r>
              <a:rPr lang="vi-VN">
                <a:solidFill>
                  <a:schemeClr val="tx2">
                    <a:lumMod val="75000"/>
                    <a:lumOff val="25000"/>
                  </a:schemeClr>
                </a:solidFill>
              </a:rPr>
              <a:t>thế là</a:t>
            </a:r>
            <a:r>
              <a:rPr lang="vi-VN"/>
              <a:t>', '</a:t>
            </a:r>
            <a:r>
              <a:rPr lang="vi-VN">
                <a:solidFill>
                  <a:schemeClr val="accent2">
                    <a:lumMod val="75000"/>
                  </a:schemeClr>
                </a:solidFill>
              </a:rPr>
              <a:t>phúc</a:t>
            </a:r>
            <a:r>
              <a:rPr lang="vi-VN"/>
              <a:t>', '</a:t>
            </a:r>
            <a:r>
              <a:rPr lang="vi-VN">
                <a:solidFill>
                  <a:schemeClr val="accent5">
                    <a:lumMod val="75000"/>
                  </a:schemeClr>
                </a:solidFill>
              </a:rPr>
              <a:t>lao</a:t>
            </a:r>
            <a:r>
              <a:rPr lang="vi-VN"/>
              <a:t>', '</a:t>
            </a:r>
            <a:r>
              <a:rPr lang="vi-VN">
                <a:solidFill>
                  <a:schemeClr val="accent6">
                    <a:lumMod val="75000"/>
                  </a:schemeClr>
                </a:solidFill>
              </a:rPr>
              <a:t>vào</a:t>
            </a:r>
            <a:r>
              <a:rPr lang="vi-VN"/>
              <a:t>', '</a:t>
            </a:r>
            <a:r>
              <a:rPr lang="vi-VN">
                <a:solidFill>
                  <a:srgbClr val="C00000"/>
                </a:solidFill>
              </a:rPr>
              <a:t>cuộc</a:t>
            </a:r>
            <a:r>
              <a:rPr lang="vi-VN"/>
              <a:t>', '</a:t>
            </a:r>
            <a:r>
              <a:rPr lang="vi-VN">
                <a:solidFill>
                  <a:srgbClr val="CC9900"/>
                </a:solidFill>
              </a:rPr>
              <a:t>chiến đấu</a:t>
            </a:r>
            <a:r>
              <a:rPr lang="vi-VN"/>
              <a:t>', '.']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/>
              <a:t>['</a:t>
            </a:r>
            <a:r>
              <a:rPr lang="vi-VN">
                <a:solidFill>
                  <a:schemeClr val="tx2">
                    <a:lumMod val="75000"/>
                    <a:lumOff val="25000"/>
                  </a:schemeClr>
                </a:solidFill>
              </a:rPr>
              <a:t>C</a:t>
            </a:r>
            <a:r>
              <a:rPr lang="vi-VN"/>
              <a:t>', '</a:t>
            </a:r>
            <a:r>
              <a:rPr lang="vi-VN">
                <a:solidFill>
                  <a:schemeClr val="accent2">
                    <a:lumMod val="75000"/>
                  </a:schemeClr>
                </a:solidFill>
              </a:rPr>
              <a:t>Np</a:t>
            </a:r>
            <a:r>
              <a:rPr lang="vi-VN"/>
              <a:t>', '</a:t>
            </a:r>
            <a:r>
              <a:rPr lang="vi-VN">
                <a:solidFill>
                  <a:schemeClr val="accent5">
                    <a:lumMod val="75000"/>
                  </a:schemeClr>
                </a:solidFill>
              </a:rPr>
              <a:t>V</a:t>
            </a:r>
            <a:r>
              <a:rPr lang="vi-VN"/>
              <a:t>', '</a:t>
            </a:r>
            <a:r>
              <a:rPr lang="vi-VN">
                <a:solidFill>
                  <a:schemeClr val="accent6">
                    <a:lumMod val="75000"/>
                  </a:schemeClr>
                </a:solidFill>
              </a:rPr>
              <a:t>E</a:t>
            </a:r>
            <a:r>
              <a:rPr lang="vi-VN"/>
              <a:t>', '</a:t>
            </a:r>
            <a:r>
              <a:rPr lang="vi-VN">
                <a:solidFill>
                  <a:srgbClr val="C00000"/>
                </a:solidFill>
              </a:rPr>
              <a:t>N</a:t>
            </a:r>
            <a:r>
              <a:rPr lang="vi-VN"/>
              <a:t>', '</a:t>
            </a:r>
            <a:r>
              <a:rPr lang="vi-VN">
                <a:solidFill>
                  <a:srgbClr val="CC9900"/>
                </a:solidFill>
              </a:rPr>
              <a:t>V</a:t>
            </a:r>
            <a:r>
              <a:rPr lang="vi-VN"/>
              <a:t>', 'PUNCT']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Dữ liệu định dạng “</a:t>
            </a:r>
            <a:r>
              <a:rPr lang="vi-VN" i="1"/>
              <a:t>.jsonl</a:t>
            </a:r>
            <a:r>
              <a:rPr lang="vi-VN"/>
              <a:t>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990FD4-A253-8C82-B2EA-641AF1CB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639AC-8F73-527B-814C-D10F776C02FF}"/>
              </a:ext>
            </a:extLst>
          </p:cNvPr>
          <p:cNvSpPr txBox="1"/>
          <p:nvPr/>
        </p:nvSpPr>
        <p:spPr>
          <a:xfrm>
            <a:off x="1066800" y="1004867"/>
            <a:ext cx="92125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Thế_là/C   Phúc/Np lao/Vvào/E cuộc/N chiến_đấu/V ./.</a:t>
            </a:r>
          </a:p>
        </p:txBody>
      </p:sp>
      <p:cxnSp>
        <p:nvCxnSpPr>
          <p:cNvPr id="8" name="!Slash">
            <a:extLst>
              <a:ext uri="{FF2B5EF4-FFF2-40B4-BE49-F238E27FC236}">
                <a16:creationId xmlns:a16="http://schemas.microsoft.com/office/drawing/2014/main" id="{EB3FEB4D-E6B2-138F-6B0A-78049657341F}"/>
              </a:ext>
            </a:extLst>
          </p:cNvPr>
          <p:cNvCxnSpPr>
            <a:cxnSpLocks/>
          </p:cNvCxnSpPr>
          <p:nvPr/>
        </p:nvCxnSpPr>
        <p:spPr>
          <a:xfrm>
            <a:off x="906780" y="4450080"/>
            <a:ext cx="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097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C0D61F-BA75-2EDB-DFC7-2AFC091A6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III. Phương pháp thực hiện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195AE6-D638-46F5-4AB0-F4BCB291C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B7668A-F8B9-9BF5-2324-D045455FE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11</a:t>
            </a:r>
          </a:p>
        </p:txBody>
      </p:sp>
      <p:cxnSp>
        <p:nvCxnSpPr>
          <p:cNvPr id="6" name="!Slash">
            <a:extLst>
              <a:ext uri="{FF2B5EF4-FFF2-40B4-BE49-F238E27FC236}">
                <a16:creationId xmlns:a16="http://schemas.microsoft.com/office/drawing/2014/main" id="{6A203142-7777-FDE8-A003-82FE514EDE95}"/>
              </a:ext>
            </a:extLst>
          </p:cNvPr>
          <p:cNvCxnSpPr>
            <a:cxnSpLocks/>
          </p:cNvCxnSpPr>
          <p:nvPr/>
        </p:nvCxnSpPr>
        <p:spPr>
          <a:xfrm>
            <a:off x="906780" y="4450080"/>
            <a:ext cx="9004475" cy="0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429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!Slash">
            <a:extLst>
              <a:ext uri="{FF2B5EF4-FFF2-40B4-BE49-F238E27FC236}">
                <a16:creationId xmlns:a16="http://schemas.microsoft.com/office/drawing/2014/main" id="{F3BD86E6-6341-ED51-9BB0-963F1B02D2D6}"/>
              </a:ext>
            </a:extLst>
          </p:cNvPr>
          <p:cNvCxnSpPr>
            <a:cxnSpLocks/>
          </p:cNvCxnSpPr>
          <p:nvPr/>
        </p:nvCxnSpPr>
        <p:spPr>
          <a:xfrm>
            <a:off x="975360" y="937260"/>
            <a:ext cx="58350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B0E168E3-787B-8B42-1EC8-7E28F5D47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III. Phương pháp thực hiện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AC04A6-2421-4C60-52E4-84A7B8979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1">
                <a:solidFill>
                  <a:schemeClr val="accent2">
                    <a:lumMod val="75000"/>
                  </a:schemeClr>
                </a:solidFill>
              </a:rPr>
              <a:t>PhoBERT</a:t>
            </a:r>
            <a:r>
              <a:rPr lang="vi-VN" b="1"/>
              <a:t> </a:t>
            </a:r>
            <a:r>
              <a:rPr lang="vi-VN"/>
              <a:t>là mô hình ngôn ngữ lớn sử dụng cho tiếng Việt được tiền huấn luyện dựa trên kiến trúc </a:t>
            </a:r>
            <a:r>
              <a:rPr lang="vi-VN" b="1"/>
              <a:t>RoBERTa </a:t>
            </a:r>
            <a:r>
              <a:rPr lang="vi-VN"/>
              <a:t>(</a:t>
            </a:r>
            <a:r>
              <a:rPr lang="vi-VN" i="1"/>
              <a:t>Dạng mã hóa - Encoder</a:t>
            </a:r>
            <a:r>
              <a:rPr lang="vi-VN"/>
              <a:t>), sử dụng khối lượng lớn dữ liệu văn bản tiếng Việt thu thập từ </a:t>
            </a:r>
            <a:r>
              <a:rPr lang="vi-VN" b="1"/>
              <a:t>Wikipedia </a:t>
            </a:r>
            <a:r>
              <a:rPr lang="vi-VN"/>
              <a:t>và các nguồn báo chí.</a:t>
            </a:r>
          </a:p>
          <a:p>
            <a:r>
              <a:rPr lang="vi-VN"/>
              <a:t>Mục đích của </a:t>
            </a:r>
            <a:r>
              <a:rPr lang="vi-VN" b="1">
                <a:solidFill>
                  <a:schemeClr val="accent2">
                    <a:lumMod val="75000"/>
                  </a:schemeClr>
                </a:solidFill>
              </a:rPr>
              <a:t>PhoBERT</a:t>
            </a:r>
            <a:r>
              <a:rPr lang="vi-VN"/>
              <a:t>: Trích xuất đặc trưng ngữ nghĩa phục vụ huấn luyện.</a:t>
            </a:r>
          </a:p>
          <a:p>
            <a:endParaRPr lang="vi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B1F6E5-C6B4-BF9D-5664-4874D9DA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12</a:t>
            </a:r>
          </a:p>
        </p:txBody>
      </p:sp>
      <p:cxnSp>
        <p:nvCxnSpPr>
          <p:cNvPr id="6" name="!Slash">
            <a:extLst>
              <a:ext uri="{FF2B5EF4-FFF2-40B4-BE49-F238E27FC236}">
                <a16:creationId xmlns:a16="http://schemas.microsoft.com/office/drawing/2014/main" id="{825F5671-4896-ECA5-CD89-FDEB63D0392C}"/>
              </a:ext>
            </a:extLst>
          </p:cNvPr>
          <p:cNvCxnSpPr>
            <a:cxnSpLocks/>
          </p:cNvCxnSpPr>
          <p:nvPr/>
        </p:nvCxnSpPr>
        <p:spPr>
          <a:xfrm flipV="1">
            <a:off x="943830" y="937260"/>
            <a:ext cx="5866545" cy="4205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688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1ADBE-A0D5-E067-1D49-571CAC9F0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III. Phương pháp thực hiện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BFDD1C-F22F-30BB-3621-12592F4196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vi-VN" b="1"/>
                  <a:t>Quá trình thực hiện bài toán phân loại</a:t>
                </a:r>
                <a:r>
                  <a:rPr lang="vi-VN"/>
                  <a:t>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vi-VN" b="1"/>
                  <a:t>Sử dụng mô hình </a:t>
                </a:r>
                <a:r>
                  <a:rPr lang="vi-VN" b="1">
                    <a:solidFill>
                      <a:schemeClr val="accent2">
                        <a:lumMod val="75000"/>
                      </a:schemeClr>
                    </a:solidFill>
                  </a:rPr>
                  <a:t>PhoBERT</a:t>
                </a:r>
                <a:r>
                  <a:rPr lang="vi-VN"/>
                  <a:t>: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vi-VN"/>
                  <a:t>Nhúng dữ liệu từ dạng văn bản thành một vector </a:t>
                </a:r>
                <a:r>
                  <a:rPr lang="vi-VN" u="sng"/>
                  <a:t>768 chiều</a:t>
                </a:r>
                <a:r>
                  <a:rPr lang="vi-VN"/>
                  <a:t>.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vi-VN" b="1"/>
                  <a:t>Giảm chiều</a:t>
                </a:r>
                <a:r>
                  <a:rPr lang="vi-VN"/>
                  <a:t>: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vi-VN"/>
                  <a:t>Huấn luyện mô hình: </a:t>
                </a:r>
                <a:r>
                  <a:rPr lang="vi-VN" b="1"/>
                  <a:t>PCA </a:t>
                </a:r>
                <a:r>
                  <a:rPr lang="vi-VN" i="1"/>
                  <a:t>→</a:t>
                </a:r>
                <a:r>
                  <a:rPr lang="vi-VN"/>
                  <a:t> </a:t>
                </a:r>
                <a:r>
                  <a:rPr lang="vi-VN" u="sng"/>
                  <a:t>256 chiều</a:t>
                </a:r>
                <a:r>
                  <a:rPr lang="vi-VN"/>
                  <a:t>, </a:t>
                </a:r>
                <a:r>
                  <a:rPr lang="vi-VN" u="sng"/>
                  <a:t>64 chiều</a:t>
                </a:r>
                <a:r>
                  <a:rPr lang="vi-VN"/>
                  <a:t>.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vi-VN"/>
                  <a:t>Phân tích tương quan và mối liên hệ của dữ liệu: </a:t>
                </a:r>
                <a:r>
                  <a:rPr lang="vi-VN" b="1"/>
                  <a:t>PCA</a:t>
                </a:r>
                <a:r>
                  <a:rPr lang="vi-VN"/>
                  <a:t>, </a:t>
                </a:r>
                <a:r>
                  <a:rPr lang="vi-VN" b="1"/>
                  <a:t>LDA</a:t>
                </a:r>
                <a:r>
                  <a:rPr lang="vi-VN"/>
                  <a:t> </a:t>
                </a:r>
                <a:r>
                  <a:rPr lang="vi-VN" i="1"/>
                  <a:t>→</a:t>
                </a:r>
                <a:r>
                  <a:rPr lang="vi-VN"/>
                  <a:t> </a:t>
                </a:r>
                <a:r>
                  <a:rPr lang="vi-VN" u="sng"/>
                  <a:t>6 chiều</a:t>
                </a:r>
                <a:r>
                  <a:rPr lang="vi-VN"/>
                  <a:t>.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vi-VN" b="1"/>
                  <a:t>Huấn luyện</a:t>
                </a:r>
                <a:r>
                  <a:rPr lang="vi-VN"/>
                  <a:t>: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vi-VN"/>
                  <a:t>Sử dụng các mô hình: </a:t>
                </a:r>
                <a:r>
                  <a:rPr lang="vi-VN" b="1"/>
                  <a:t>Naive Bayes</a:t>
                </a:r>
                <a:r>
                  <a:rPr lang="vi-VN"/>
                  <a:t>, </a:t>
                </a:r>
                <a:r>
                  <a:rPr lang="vi-VN" b="1"/>
                  <a:t>Softmax Regression</a:t>
                </a:r>
                <a:r>
                  <a:rPr lang="vi-VN"/>
                  <a:t>, </a:t>
                </a:r>
                <a:r>
                  <a:rPr lang="vi-VN" b="1"/>
                  <a:t>Multi-layer Perceptron</a:t>
                </a:r>
                <a:r>
                  <a:rPr lang="vi-VN"/>
                  <a:t>.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vi-VN"/>
                  <a:t>Phương pháp:</a:t>
                </a:r>
              </a:p>
              <a:p>
                <a:pPr marL="1714500" lvl="3" indent="-342900">
                  <a:buFont typeface="Arial" panose="020B0604020202020204" pitchFamily="34" charset="0"/>
                  <a:buChar char="•"/>
                </a:pPr>
                <a:r>
                  <a:rPr lang="vi-VN" b="1"/>
                  <a:t>Standard</a:t>
                </a:r>
                <a:r>
                  <a:rPr lang="vi-VN"/>
                  <a:t>: Huấn luyện trên dữ liệu gốc.</a:t>
                </a:r>
              </a:p>
              <a:p>
                <a:pPr marL="1714500" lvl="3" indent="-342900">
                  <a:buFont typeface="Arial" panose="020B0604020202020204" pitchFamily="34" charset="0"/>
                  <a:buChar char="•"/>
                </a:pPr>
                <a:r>
                  <a:rPr lang="vi-VN" b="1"/>
                  <a:t>Weighted</a:t>
                </a:r>
                <a:r>
                  <a:rPr lang="vi-VN"/>
                  <a:t>: Áp dụng trọng số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vi-V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vi-V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vi-V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den>
                    </m:f>
                  </m:oMath>
                </a14:m>
                <a:r>
                  <a:rPr lang="vi-VN"/>
                  <a:t>.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vi-VN"/>
                  <a:t>Tỉ lệ </a:t>
                </a:r>
                <a:r>
                  <a:rPr lang="vi-VN" b="1"/>
                  <a:t>train/test</a:t>
                </a:r>
                <a:r>
                  <a:rPr lang="vi-VN"/>
                  <a:t>: 80/20, 70/30, 60/40.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BFDD1C-F22F-30BB-3621-12592F4196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02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95E62-65D8-398D-634C-51CCEA91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13</a:t>
            </a:r>
          </a:p>
        </p:txBody>
      </p:sp>
      <p:cxnSp>
        <p:nvCxnSpPr>
          <p:cNvPr id="4" name="!Slash1">
            <a:extLst>
              <a:ext uri="{FF2B5EF4-FFF2-40B4-BE49-F238E27FC236}">
                <a16:creationId xmlns:a16="http://schemas.microsoft.com/office/drawing/2014/main" id="{E5F82040-73B2-63EB-26D9-0C6EC7BFB5A9}"/>
              </a:ext>
            </a:extLst>
          </p:cNvPr>
          <p:cNvCxnSpPr>
            <a:cxnSpLocks/>
          </p:cNvCxnSpPr>
          <p:nvPr/>
        </p:nvCxnSpPr>
        <p:spPr>
          <a:xfrm>
            <a:off x="906780" y="4450080"/>
            <a:ext cx="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624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5382E-4093-0B61-7CEC-43CEA2DA0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III. Phương pháp thực hiện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36385-C342-776C-0F07-49C453EF0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574" y="1050925"/>
            <a:ext cx="10515600" cy="5126038"/>
          </a:xfrm>
        </p:spPr>
        <p:txBody>
          <a:bodyPr/>
          <a:lstStyle/>
          <a:p>
            <a:r>
              <a:rPr lang="vi-VN" b="1"/>
              <a:t>Quá trình chuyển đổi sang bài toán hồi quy (</a:t>
            </a:r>
            <a:r>
              <a:rPr lang="vi-VN" b="1" i="1"/>
              <a:t>cho nhãn N</a:t>
            </a:r>
            <a:r>
              <a:rPr lang="vi-VN" b="1"/>
              <a:t>):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­</a:t>
            </a:r>
            <a:r>
              <a:rPr lang="vi-VN" b="1"/>
              <a:t>Gán nhãn nhị phân</a:t>
            </a:r>
            <a:r>
              <a:rPr lang="vi-VN"/>
              <a:t> cho mỗi token:</a:t>
            </a:r>
          </a:p>
          <a:p>
            <a:pPr marL="1258888" lvl="2" indent="-344488">
              <a:buFont typeface="Arial" panose="020B0604020202020204" pitchFamily="34" charset="0"/>
              <a:buChar char="•"/>
            </a:pPr>
            <a:r>
              <a:rPr lang="vi-VN"/>
              <a:t>Nhãn N: 1.</a:t>
            </a:r>
          </a:p>
          <a:p>
            <a:pPr marL="1258888" lvl="2" indent="-344488">
              <a:buFont typeface="Arial" panose="020B0604020202020204" pitchFamily="34" charset="0"/>
              <a:buChar char="•"/>
            </a:pPr>
            <a:r>
              <a:rPr lang="vi-VN"/>
              <a:t>Các nhãn còn lại: 0.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­</a:t>
            </a:r>
            <a:r>
              <a:rPr lang="vi-VN" b="1"/>
              <a:t>Đầu vào</a:t>
            </a:r>
            <a:r>
              <a:rPr lang="vi-VN"/>
              <a:t>:</a:t>
            </a:r>
          </a:p>
          <a:p>
            <a:pPr marL="1258888" lvl="2" indent="-344488">
              <a:buFont typeface="Arial" panose="020B0604020202020204" pitchFamily="34" charset="0"/>
              <a:buChar char="•"/>
            </a:pPr>
            <a:r>
              <a:rPr lang="vi-VN"/>
              <a:t>Các vector đặc trưng từ </a:t>
            </a:r>
            <a:r>
              <a:rPr lang="vi-VN" b="1">
                <a:solidFill>
                  <a:schemeClr val="accent2">
                    <a:lumMod val="75000"/>
                  </a:schemeClr>
                </a:solidFill>
              </a:rPr>
              <a:t>PhoBERT.</a:t>
            </a:r>
          </a:p>
          <a:p>
            <a:pPr marL="1258888" lvl="2" indent="-344488">
              <a:buFont typeface="Arial" panose="020B0604020202020204" pitchFamily="34" charset="0"/>
              <a:buChar char="•"/>
            </a:pPr>
            <a:r>
              <a:rPr lang="vi-VN"/>
              <a:t>Các không gian đặc trưng: </a:t>
            </a:r>
            <a:r>
              <a:rPr lang="vi-VN" u="sng"/>
              <a:t>768 chiều</a:t>
            </a:r>
            <a:r>
              <a:rPr lang="vi-VN"/>
              <a:t> (</a:t>
            </a:r>
            <a:r>
              <a:rPr lang="vi-VN" i="1"/>
              <a:t>gốc</a:t>
            </a:r>
            <a:r>
              <a:rPr lang="vi-VN"/>
              <a:t>), </a:t>
            </a:r>
            <a:r>
              <a:rPr lang="vi-VN" u="sng"/>
              <a:t>256 chiều</a:t>
            </a:r>
            <a:r>
              <a:rPr lang="vi-VN"/>
              <a:t> và </a:t>
            </a:r>
            <a:r>
              <a:rPr lang="vi-VN" u="sng"/>
              <a:t>64 chiều</a:t>
            </a:r>
            <a:r>
              <a:rPr lang="vi-VN"/>
              <a:t> (</a:t>
            </a:r>
            <a:r>
              <a:rPr lang="vi-VN" i="1"/>
              <a:t>PCA</a:t>
            </a:r>
            <a:r>
              <a:rPr lang="vi-VN"/>
              <a:t>).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­</a:t>
            </a:r>
            <a:r>
              <a:rPr lang="vi-VN" b="1"/>
              <a:t>Huấn luyện</a:t>
            </a:r>
            <a:r>
              <a:rPr lang="vi-VN"/>
              <a:t>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/>
              <a:t>Xác suất nhãn N: lấy từ mô hình </a:t>
            </a:r>
            <a:r>
              <a:rPr lang="vi-VN" b="1"/>
              <a:t>SR (</a:t>
            </a:r>
            <a:r>
              <a:rPr lang="vi-VN" b="1" i="1"/>
              <a:t>weighted</a:t>
            </a:r>
            <a:r>
              <a:rPr lang="vi-VN" b="1"/>
              <a:t>)</a:t>
            </a:r>
            <a:r>
              <a:rPr lang="vi-VN"/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/>
              <a:t>Tỉ lệ </a:t>
            </a:r>
            <a:r>
              <a:rPr lang="vi-VN" b="1"/>
              <a:t>train/test</a:t>
            </a:r>
            <a:r>
              <a:rPr lang="vi-VN"/>
              <a:t>: 80/20, 70/30, 60/40.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vi-VN"/>
              <a:t>Mô hình sử dụng: </a:t>
            </a:r>
            <a:r>
              <a:rPr lang="vi-VN" b="1"/>
              <a:t>KNN</a:t>
            </a:r>
            <a:r>
              <a:rPr lang="vi-VN"/>
              <a:t>, </a:t>
            </a:r>
            <a:r>
              <a:rPr lang="vi-VN" b="1"/>
              <a:t>MLP</a:t>
            </a:r>
            <a:r>
              <a:rPr lang="vi-VN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vi-VN"/>
              <a:t>­</a:t>
            </a:r>
            <a:r>
              <a:rPr lang="vi-VN" b="1"/>
              <a:t>Đầu ra</a:t>
            </a:r>
            <a:r>
              <a:rPr lang="vi-VN"/>
              <a:t>: Giá trị liên tục trong khoảng [</a:t>
            </a:r>
            <a:r>
              <a:rPr lang="vi-VN" i="1"/>
              <a:t>0, 1</a:t>
            </a:r>
            <a:r>
              <a:rPr lang="vi-VN"/>
              <a:t>].</a:t>
            </a:r>
          </a:p>
          <a:p>
            <a:pPr marL="914400" lvl="1" indent="-457200">
              <a:buFont typeface="+mj-lt"/>
              <a:buAutoNum type="arabicPeriod"/>
            </a:pPr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337AC-772C-01D4-DCC1-A83DDC4A9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3F5F-E228-416B-BB6D-31EFB88A1F2E}" type="slidenum">
              <a:rPr lang="vi-VN" smtClean="0"/>
              <a:t>20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3418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694A62-3C8C-68BC-E40A-0ED614A0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IV. Kết quả và đánh giá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D83117-5B37-B900-1264-10850899C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01CD8E-197B-4DAE-9D1D-2F56E959D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14</a:t>
            </a:r>
          </a:p>
        </p:txBody>
      </p:sp>
      <p:cxnSp>
        <p:nvCxnSpPr>
          <p:cNvPr id="7" name="!Slash">
            <a:extLst>
              <a:ext uri="{FF2B5EF4-FFF2-40B4-BE49-F238E27FC236}">
                <a16:creationId xmlns:a16="http://schemas.microsoft.com/office/drawing/2014/main" id="{11BFA1AB-5A06-8E5B-4F5D-BB20791D6260}"/>
              </a:ext>
            </a:extLst>
          </p:cNvPr>
          <p:cNvCxnSpPr>
            <a:cxnSpLocks/>
          </p:cNvCxnSpPr>
          <p:nvPr/>
        </p:nvCxnSpPr>
        <p:spPr>
          <a:xfrm>
            <a:off x="906780" y="4450080"/>
            <a:ext cx="7703820" cy="0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672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139B8D-987E-838C-ADF4-18D8A553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15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0FACF2B-05BC-A75D-9E26-104CAC3F7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1076" y="1050925"/>
            <a:ext cx="8049847" cy="51260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0AE15C-378B-E186-79A1-B48354237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IV. Kết quả và đánh giá</a:t>
            </a:r>
          </a:p>
        </p:txBody>
      </p:sp>
      <p:cxnSp>
        <p:nvCxnSpPr>
          <p:cNvPr id="3" name="!Slash">
            <a:extLst>
              <a:ext uri="{FF2B5EF4-FFF2-40B4-BE49-F238E27FC236}">
                <a16:creationId xmlns:a16="http://schemas.microsoft.com/office/drawing/2014/main" id="{B934701B-BF15-BD7D-391F-143AE6DCE2E5}"/>
              </a:ext>
            </a:extLst>
          </p:cNvPr>
          <p:cNvCxnSpPr>
            <a:cxnSpLocks/>
          </p:cNvCxnSpPr>
          <p:nvPr/>
        </p:nvCxnSpPr>
        <p:spPr>
          <a:xfrm>
            <a:off x="979040" y="935313"/>
            <a:ext cx="5011856" cy="0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088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B0ACB-8159-5169-195A-42163131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IV. Kết quả và đánh giá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D17AE88-3B1E-F05F-27D4-8F62F6798D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696342"/>
              </p:ext>
            </p:extLst>
          </p:nvPr>
        </p:nvGraphicFramePr>
        <p:xfrm>
          <a:off x="838200" y="1050925"/>
          <a:ext cx="105156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45394344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9129179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08402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4768461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69521220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69712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vi-VN"/>
                        <a:t>Nhãn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Số lượng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Tỉ lệ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Nhãn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Số lượng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Tỉ lệ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628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/>
                        <a:t>N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51557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23.7%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5448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2.50%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58856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/>
                        <a:t>V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42597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19.58%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1.81%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4968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/>
                        <a:t>PUNCT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32115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14.76%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475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/>
                        <a:t>R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15822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7.27%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0.65%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87211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/>
                        <a:t>E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13541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6.22%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Nu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61098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/>
                        <a:t>A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13427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6.17%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26910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/>
                        <a:t>P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9265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4.26%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0.07%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1557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/>
                        <a:t>Np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3.92%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0.04%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5444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/>
                        <a:t>M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3.72%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0.02%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5814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/>
                        <a:t>C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3.63%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0.01%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1562655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96212-8FB6-AA3C-08C8-673A4396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3F5F-E228-416B-BB6D-31EFB88A1F2E}" type="slidenum">
              <a:rPr lang="vi-VN" smtClean="0"/>
              <a:t>23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92615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641CF-4BC3-316B-2B95-3735C7520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69D2-B197-DF1A-ABC8-14DC88F1E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IV. Kết quả và đánh giá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C435C5B-27E7-115D-C596-338675080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15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0B5188A-A87D-6475-4B99-8A7D15431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666"/>
          <a:stretch>
            <a:fillRect/>
          </a:stretch>
        </p:blipFill>
        <p:spPr>
          <a:xfrm>
            <a:off x="2489652" y="1050925"/>
            <a:ext cx="6443334" cy="51260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F0168C-000F-6205-ADF4-62E99FA6ED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281" t="-4815" r="-1260" b="48051"/>
          <a:stretch>
            <a:fillRect/>
          </a:stretch>
        </p:blipFill>
        <p:spPr>
          <a:xfrm>
            <a:off x="8932986" y="338455"/>
            <a:ext cx="1352704" cy="546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33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46FC0-5C92-5026-0D70-477F4BA2C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E84C8-12F5-228D-D7A9-26C798C22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IV. Kết quả và đánh giá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D8BDF6B-F029-CAF2-F1F7-41EBB6D1F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15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4E893ED-60B4-3E94-2A20-DB65C34A34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1085"/>
          <a:stretch>
            <a:fillRect/>
          </a:stretch>
        </p:blipFill>
        <p:spPr>
          <a:xfrm>
            <a:off x="2489651" y="1050925"/>
            <a:ext cx="6413189" cy="51260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B06039-E830-EA1C-70B0-9CA4FA9F7D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281" t="-4815" r="-1260" b="48051"/>
          <a:stretch>
            <a:fillRect/>
          </a:stretch>
        </p:blipFill>
        <p:spPr>
          <a:xfrm>
            <a:off x="8932986" y="338455"/>
            <a:ext cx="1352704" cy="546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327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E8EC057-57EA-DA53-D6FE-FC5673D0C8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8982431"/>
              </p:ext>
            </p:extLst>
          </p:nvPr>
        </p:nvGraphicFramePr>
        <p:xfrm>
          <a:off x="836613" y="1828800"/>
          <a:ext cx="10593385" cy="384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595">
                  <a:extLst>
                    <a:ext uri="{9D8B030D-6E8A-4147-A177-3AD203B41FA5}">
                      <a16:colId xmlns:a16="http://schemas.microsoft.com/office/drawing/2014/main" val="334423641"/>
                    </a:ext>
                  </a:extLst>
                </a:gridCol>
                <a:gridCol w="921793">
                  <a:extLst>
                    <a:ext uri="{9D8B030D-6E8A-4147-A177-3AD203B41FA5}">
                      <a16:colId xmlns:a16="http://schemas.microsoft.com/office/drawing/2014/main" val="3957246265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3349154238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557839514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2210696613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408200731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1545628150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1956961847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419088510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878813953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2288288840"/>
                    </a:ext>
                  </a:extLst>
                </a:gridCol>
              </a:tblGrid>
              <a:tr h="480219">
                <a:tc rowSpan="2">
                  <a:txBody>
                    <a:bodyPr/>
                    <a:lstStyle/>
                    <a:p>
                      <a:pPr algn="ctr"/>
                      <a:r>
                        <a:rPr lang="vi-VN"/>
                        <a:t>Phương pháp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vi-VN"/>
                        <a:t>Số chiều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vi-VN"/>
                        <a:t>Accuracy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vi-VN"/>
                        <a:t>F1-score (Weighted)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vi-VN"/>
                        <a:t>F1-score (Macro)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35307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8/2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7/3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6/4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8/2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7/3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6/4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8/2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7/3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6/4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853972"/>
                  </a:ext>
                </a:extLst>
              </a:tr>
              <a:tr h="480219">
                <a:tc rowSpan="3">
                  <a:txBody>
                    <a:bodyPr/>
                    <a:lstStyle/>
                    <a:p>
                      <a:pPr algn="ctr"/>
                      <a:r>
                        <a:rPr lang="en-US" b="1"/>
                        <a:t>Standard</a:t>
                      </a:r>
                      <a:endParaRPr lang="vi-VN" b="1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768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0.68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0.68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0.68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0.70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0.70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0.70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0.55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0.55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0.56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125561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256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/>
                        <a:t>0.81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/>
                        <a:t>0.81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/>
                        <a:t>0.81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/>
                        <a:t>0.81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/>
                        <a:t>0.81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/>
                        <a:t>0.81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/>
                        <a:t>0.66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/>
                        <a:t>0.67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1"/>
                        <a:t>0.68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379841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0.74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0.74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0.74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0.76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0.76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0.59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0.59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0.59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586620"/>
                  </a:ext>
                </a:extLst>
              </a:tr>
              <a:tr h="480219">
                <a:tc rowSpan="3">
                  <a:txBody>
                    <a:bodyPr/>
                    <a:lstStyle/>
                    <a:p>
                      <a:pPr algn="ctr"/>
                      <a:r>
                        <a:rPr lang="en-US" b="1"/>
                        <a:t>Weighted</a:t>
                      </a:r>
                      <a:endParaRPr lang="vi-VN" b="1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/>
                        <a:t>768</a:t>
                      </a:r>
                      <a:endParaRPr lang="vi-VN" i="1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0.54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56460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256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902218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92688183"/>
                  </a:ext>
                </a:extLst>
              </a:tr>
            </a:tbl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3D96D-7228-8718-59B1-BDB0D34F6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vi-VN" b="1"/>
              <a:t>Naive Bayes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139B8D-987E-838C-ADF4-18D8A5534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15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AE15C-378B-E186-79A1-B48354237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IV. Kết quả và đánh giá</a:t>
            </a:r>
          </a:p>
        </p:txBody>
      </p:sp>
    </p:spTree>
    <p:extLst>
      <p:ext uri="{BB962C8B-B14F-4D97-AF65-F5344CB8AC3E}">
        <p14:creationId xmlns:p14="http://schemas.microsoft.com/office/powerpoint/2010/main" val="3328035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65829CFD-6941-64EB-F68D-4ED06C63C5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7150047"/>
              </p:ext>
            </p:extLst>
          </p:nvPr>
        </p:nvGraphicFramePr>
        <p:xfrm>
          <a:off x="836613" y="1828800"/>
          <a:ext cx="10593385" cy="384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595">
                  <a:extLst>
                    <a:ext uri="{9D8B030D-6E8A-4147-A177-3AD203B41FA5}">
                      <a16:colId xmlns:a16="http://schemas.microsoft.com/office/drawing/2014/main" val="334423641"/>
                    </a:ext>
                  </a:extLst>
                </a:gridCol>
                <a:gridCol w="921793">
                  <a:extLst>
                    <a:ext uri="{9D8B030D-6E8A-4147-A177-3AD203B41FA5}">
                      <a16:colId xmlns:a16="http://schemas.microsoft.com/office/drawing/2014/main" val="3957246265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3349154238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557839514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2210696613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408200731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1545628150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1956961847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419088510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878813953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2288288840"/>
                    </a:ext>
                  </a:extLst>
                </a:gridCol>
              </a:tblGrid>
              <a:tr h="480219">
                <a:tc rowSpan="2">
                  <a:txBody>
                    <a:bodyPr/>
                    <a:lstStyle/>
                    <a:p>
                      <a:pPr algn="ctr"/>
                      <a:r>
                        <a:rPr lang="vi-VN"/>
                        <a:t>Phương pháp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vi-VN"/>
                        <a:t>Số chiều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vi-VN"/>
                        <a:t>Accuracy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vi-VN"/>
                        <a:t>F1-score (Weighted)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vi-VN"/>
                        <a:t>F1-score (Macro)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35307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8/2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7/3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6/4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8/2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7/3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6/4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8/2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7/3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6/4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853972"/>
                  </a:ext>
                </a:extLst>
              </a:tr>
              <a:tr h="480219">
                <a:tc rowSpan="3">
                  <a:txBody>
                    <a:bodyPr/>
                    <a:lstStyle/>
                    <a:p>
                      <a:pPr algn="ctr"/>
                      <a:r>
                        <a:rPr lang="en-US" b="1"/>
                        <a:t>Standard</a:t>
                      </a:r>
                      <a:endParaRPr lang="vi-VN" b="1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768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125561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256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379841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586620"/>
                  </a:ext>
                </a:extLst>
              </a:tr>
              <a:tr h="480219">
                <a:tc rowSpan="3">
                  <a:txBody>
                    <a:bodyPr/>
                    <a:lstStyle/>
                    <a:p>
                      <a:pPr algn="ctr"/>
                      <a:r>
                        <a:rPr lang="en-US" b="1"/>
                        <a:t>Weighted</a:t>
                      </a:r>
                      <a:endParaRPr lang="vi-VN" b="1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/>
                        <a:t>768</a:t>
                      </a:r>
                      <a:endParaRPr lang="vi-VN" i="1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56460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256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902218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92688183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521CDE-1479-1C25-0410-7CF5B5C0A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vi-VN" b="1"/>
              <a:t>Softmax Regression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2137D4-397F-BA82-660C-F2D350416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3CE71F-A5B4-F6DE-2FC9-6FCC6050B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IV. Kết quả và đánh giá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F704163C-B6C2-05C9-C076-5F3DFD8728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9477056"/>
              </p:ext>
            </p:extLst>
          </p:nvPr>
        </p:nvGraphicFramePr>
        <p:xfrm>
          <a:off x="836611" y="1828798"/>
          <a:ext cx="10593385" cy="384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595">
                  <a:extLst>
                    <a:ext uri="{9D8B030D-6E8A-4147-A177-3AD203B41FA5}">
                      <a16:colId xmlns:a16="http://schemas.microsoft.com/office/drawing/2014/main" val="334423641"/>
                    </a:ext>
                  </a:extLst>
                </a:gridCol>
                <a:gridCol w="921793">
                  <a:extLst>
                    <a:ext uri="{9D8B030D-6E8A-4147-A177-3AD203B41FA5}">
                      <a16:colId xmlns:a16="http://schemas.microsoft.com/office/drawing/2014/main" val="3957246265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3349154238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557839514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2210696613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408200731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1545628150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1956961847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419088510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878813953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2288288840"/>
                    </a:ext>
                  </a:extLst>
                </a:gridCol>
              </a:tblGrid>
              <a:tr h="480219">
                <a:tc rowSpan="2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35307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853972"/>
                  </a:ext>
                </a:extLst>
              </a:tr>
              <a:tr h="480219">
                <a:tc rowSpan="3">
                  <a:txBody>
                    <a:bodyPr/>
                    <a:lstStyle/>
                    <a:p>
                      <a:pPr algn="ctr"/>
                      <a:endParaRPr lang="vi-VN" b="1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125561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379841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586620"/>
                  </a:ext>
                </a:extLst>
              </a:tr>
              <a:tr h="480219">
                <a:tc rowSpan="3">
                  <a:txBody>
                    <a:bodyPr/>
                    <a:lstStyle/>
                    <a:p>
                      <a:pPr algn="ctr"/>
                      <a:endParaRPr lang="vi-VN" b="1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 i="1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56460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 i="1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902218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 i="1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92688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5451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DB5C-6384-04B3-D882-396DBBAB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FB634C-6AA0-95B4-22B6-14A9C33FA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78B6A-F8D3-FD3E-1180-D0C001DCF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vi-VN" b="1"/>
              <a:t>Multi-layer Perceptron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8C0FE-CE9C-0569-06ED-B8528352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17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81AC0D-D7FE-F871-2733-33F85FF4F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IV. Kết quả và đánh giá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DD899A3-02A9-3DDF-F71A-4BEEC230FD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1707447"/>
              </p:ext>
            </p:extLst>
          </p:nvPr>
        </p:nvGraphicFramePr>
        <p:xfrm>
          <a:off x="836613" y="1828800"/>
          <a:ext cx="10593385" cy="384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595">
                  <a:extLst>
                    <a:ext uri="{9D8B030D-6E8A-4147-A177-3AD203B41FA5}">
                      <a16:colId xmlns:a16="http://schemas.microsoft.com/office/drawing/2014/main" val="334423641"/>
                    </a:ext>
                  </a:extLst>
                </a:gridCol>
                <a:gridCol w="921793">
                  <a:extLst>
                    <a:ext uri="{9D8B030D-6E8A-4147-A177-3AD203B41FA5}">
                      <a16:colId xmlns:a16="http://schemas.microsoft.com/office/drawing/2014/main" val="3957246265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3349154238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557839514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2210696613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408200731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1545628150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1956961847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419088510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878813953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2288288840"/>
                    </a:ext>
                  </a:extLst>
                </a:gridCol>
              </a:tblGrid>
              <a:tr h="480219">
                <a:tc rowSpan="2">
                  <a:txBody>
                    <a:bodyPr/>
                    <a:lstStyle/>
                    <a:p>
                      <a:pPr algn="ctr"/>
                      <a:r>
                        <a:rPr lang="vi-VN"/>
                        <a:t>Phương pháp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vi-VN"/>
                        <a:t>Số chiều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vi-VN"/>
                        <a:t>Accuracy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vi-VN"/>
                        <a:t>F1-score (Weighted)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vi-VN"/>
                        <a:t>F1-score (Macro)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35307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8/2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7/3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6/4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8/2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7/3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6/4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8/2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7/3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6/4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853972"/>
                  </a:ext>
                </a:extLst>
              </a:tr>
              <a:tr h="480219">
                <a:tc rowSpan="3">
                  <a:txBody>
                    <a:bodyPr/>
                    <a:lstStyle/>
                    <a:p>
                      <a:pPr algn="ctr"/>
                      <a:r>
                        <a:rPr lang="en-US" b="1"/>
                        <a:t>Standard</a:t>
                      </a:r>
                      <a:endParaRPr lang="vi-VN" b="1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768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125561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256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379841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586620"/>
                  </a:ext>
                </a:extLst>
              </a:tr>
              <a:tr h="480219">
                <a:tc rowSpan="3">
                  <a:txBody>
                    <a:bodyPr/>
                    <a:lstStyle/>
                    <a:p>
                      <a:pPr algn="ctr"/>
                      <a:r>
                        <a:rPr lang="en-US" b="1"/>
                        <a:t>Weighted</a:t>
                      </a:r>
                      <a:endParaRPr lang="vi-VN" b="1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/>
                        <a:t>768</a:t>
                      </a:r>
                      <a:endParaRPr lang="vi-VN" i="1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56460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256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902218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64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0.82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vi-VN"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9268818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1CA635BD-C075-6B7F-2856-2816155CED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2472097"/>
              </p:ext>
            </p:extLst>
          </p:nvPr>
        </p:nvGraphicFramePr>
        <p:xfrm>
          <a:off x="836611" y="1828798"/>
          <a:ext cx="10593385" cy="384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595">
                  <a:extLst>
                    <a:ext uri="{9D8B030D-6E8A-4147-A177-3AD203B41FA5}">
                      <a16:colId xmlns:a16="http://schemas.microsoft.com/office/drawing/2014/main" val="334423641"/>
                    </a:ext>
                  </a:extLst>
                </a:gridCol>
                <a:gridCol w="921793">
                  <a:extLst>
                    <a:ext uri="{9D8B030D-6E8A-4147-A177-3AD203B41FA5}">
                      <a16:colId xmlns:a16="http://schemas.microsoft.com/office/drawing/2014/main" val="3957246265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3349154238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557839514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2210696613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408200731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1545628150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1956961847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419088510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878813953"/>
                    </a:ext>
                  </a:extLst>
                </a:gridCol>
                <a:gridCol w="942333">
                  <a:extLst>
                    <a:ext uri="{9D8B030D-6E8A-4147-A177-3AD203B41FA5}">
                      <a16:colId xmlns:a16="http://schemas.microsoft.com/office/drawing/2014/main" val="2288288840"/>
                    </a:ext>
                  </a:extLst>
                </a:gridCol>
              </a:tblGrid>
              <a:tr h="480219">
                <a:tc rowSpan="2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335307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853972"/>
                  </a:ext>
                </a:extLst>
              </a:tr>
              <a:tr h="480219">
                <a:tc rowSpan="3">
                  <a:txBody>
                    <a:bodyPr/>
                    <a:lstStyle/>
                    <a:p>
                      <a:pPr algn="ctr"/>
                      <a:endParaRPr lang="vi-VN" b="1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125561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379841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586620"/>
                  </a:ext>
                </a:extLst>
              </a:tr>
              <a:tr h="480219">
                <a:tc rowSpan="3">
                  <a:txBody>
                    <a:bodyPr/>
                    <a:lstStyle/>
                    <a:p>
                      <a:pPr algn="ctr"/>
                      <a:endParaRPr lang="vi-VN" b="1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 i="1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b="1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556460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 i="1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902218"/>
                  </a:ext>
                </a:extLst>
              </a:tr>
              <a:tr h="480219">
                <a:tc vMerge="1">
                  <a:txBody>
                    <a:bodyPr/>
                    <a:lstStyle/>
                    <a:p>
                      <a:pPr algn="ctr"/>
                      <a:endParaRPr lang="vi-VN"/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vi-VN" i="1"/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endParaRPr lang="vi-VN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92688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09858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6A9BC4F-10D0-2CF3-4BCA-3C34CF1A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IV. Kết quả và đánh giá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162C240-7502-FC96-A644-D88EDE4AE6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2664838"/>
              </p:ext>
            </p:extLst>
          </p:nvPr>
        </p:nvGraphicFramePr>
        <p:xfrm>
          <a:off x="838200" y="981917"/>
          <a:ext cx="10515598" cy="5189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398">
                  <a:extLst>
                    <a:ext uri="{9D8B030D-6E8A-4147-A177-3AD203B41FA5}">
                      <a16:colId xmlns:a16="http://schemas.microsoft.com/office/drawing/2014/main" val="2633777922"/>
                    </a:ext>
                  </a:extLst>
                </a:gridCol>
                <a:gridCol w="1404398">
                  <a:extLst>
                    <a:ext uri="{9D8B030D-6E8A-4147-A177-3AD203B41FA5}">
                      <a16:colId xmlns:a16="http://schemas.microsoft.com/office/drawing/2014/main" val="4023494307"/>
                    </a:ext>
                  </a:extLst>
                </a:gridCol>
                <a:gridCol w="1284467">
                  <a:extLst>
                    <a:ext uri="{9D8B030D-6E8A-4147-A177-3AD203B41FA5}">
                      <a16:colId xmlns:a16="http://schemas.microsoft.com/office/drawing/2014/main" val="450372451"/>
                    </a:ext>
                  </a:extLst>
                </a:gridCol>
                <a:gridCol w="1284467">
                  <a:extLst>
                    <a:ext uri="{9D8B030D-6E8A-4147-A177-3AD203B41FA5}">
                      <a16:colId xmlns:a16="http://schemas.microsoft.com/office/drawing/2014/main" val="2335682673"/>
                    </a:ext>
                  </a:extLst>
                </a:gridCol>
                <a:gridCol w="1284467">
                  <a:extLst>
                    <a:ext uri="{9D8B030D-6E8A-4147-A177-3AD203B41FA5}">
                      <a16:colId xmlns:a16="http://schemas.microsoft.com/office/drawing/2014/main" val="3685644035"/>
                    </a:ext>
                  </a:extLst>
                </a:gridCol>
                <a:gridCol w="1284467">
                  <a:extLst>
                    <a:ext uri="{9D8B030D-6E8A-4147-A177-3AD203B41FA5}">
                      <a16:colId xmlns:a16="http://schemas.microsoft.com/office/drawing/2014/main" val="2656732181"/>
                    </a:ext>
                  </a:extLst>
                </a:gridCol>
                <a:gridCol w="1284467">
                  <a:extLst>
                    <a:ext uri="{9D8B030D-6E8A-4147-A177-3AD203B41FA5}">
                      <a16:colId xmlns:a16="http://schemas.microsoft.com/office/drawing/2014/main" val="2487993387"/>
                    </a:ext>
                  </a:extLst>
                </a:gridCol>
                <a:gridCol w="1284467">
                  <a:extLst>
                    <a:ext uri="{9D8B030D-6E8A-4147-A177-3AD203B41FA5}">
                      <a16:colId xmlns:a16="http://schemas.microsoft.com/office/drawing/2014/main" val="3081428183"/>
                    </a:ext>
                  </a:extLst>
                </a:gridCol>
              </a:tblGrid>
              <a:tr h="358235">
                <a:tc rowSpan="2">
                  <a:txBody>
                    <a:bodyPr/>
                    <a:lstStyle/>
                    <a:p>
                      <a:pPr algn="ctr"/>
                      <a:r>
                        <a:rPr lang="vi-VN"/>
                        <a:t>Nhãn</a:t>
                      </a:r>
                    </a:p>
                  </a:txBody>
                  <a:tcPr anchor="ctr">
                    <a:lnL w="12700" cmpd="sng">
                      <a:noFill/>
                    </a:lnL>
                    <a:lnR w="190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vi-VN"/>
                        <a:t>Support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accent4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vi-VN"/>
                        <a:t>NB (256D)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vi-VN"/>
                        <a:t>SR (768D)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vi-VN"/>
                        <a:t>MLP (768D)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16437"/>
                  </a:ext>
                </a:extLst>
              </a:tr>
              <a:tr h="358235">
                <a:tc vMerge="1">
                  <a:txBody>
                    <a:bodyPr/>
                    <a:lstStyle/>
                    <a:p>
                      <a:pPr algn="l"/>
                      <a:endParaRPr lang="vi-VN"/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vi-VN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Std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Wgt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Std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Wgt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Std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Wgt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943427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2685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4538007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58082141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1578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0.85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087420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2708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4377668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0.44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5723239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9297525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38483224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10308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259246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Nb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0.45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0.55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6205123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Nc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6462435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Np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1703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6780419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Nu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0.84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0236266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1853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0.85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0.94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0.94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2471242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PUNCT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6421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3972636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3164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4493663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42862316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6190353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8518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76880901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0.51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0.45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0.65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0.65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5078707"/>
                  </a:ext>
                </a:extLst>
              </a:tr>
              <a:tr h="2182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</a:t>
                      </a:r>
                    </a:p>
                  </a:txBody>
                  <a:tcPr marR="9525" marT="9525" marB="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1443066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0F5CDD-7AE2-B11A-19E8-D8DC5FF7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07536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82D54-E36D-5D55-D9C1-01740F5E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IV. Kết quả và đánh giá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F6A75A-6D70-3101-8AD3-9AEEA9A0EC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73597" y="1050925"/>
            <a:ext cx="5644805" cy="512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BF420-577B-BFD4-1622-69FEC3CB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3F5F-E228-416B-BB6D-31EFB88A1F2E}" type="slidenum">
              <a:rPr lang="vi-VN" smtClean="0"/>
              <a:t>30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63690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6589810-FA31-030E-3D8E-30E1196EF3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6423523"/>
              </p:ext>
            </p:extLst>
          </p:nvPr>
        </p:nvGraphicFramePr>
        <p:xfrm>
          <a:off x="836613" y="1828800"/>
          <a:ext cx="105933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346">
                  <a:extLst>
                    <a:ext uri="{9D8B030D-6E8A-4147-A177-3AD203B41FA5}">
                      <a16:colId xmlns:a16="http://schemas.microsoft.com/office/drawing/2014/main" val="1588465324"/>
                    </a:ext>
                  </a:extLst>
                </a:gridCol>
                <a:gridCol w="2648346">
                  <a:extLst>
                    <a:ext uri="{9D8B030D-6E8A-4147-A177-3AD203B41FA5}">
                      <a16:colId xmlns:a16="http://schemas.microsoft.com/office/drawing/2014/main" val="3490854603"/>
                    </a:ext>
                  </a:extLst>
                </a:gridCol>
                <a:gridCol w="2648346">
                  <a:extLst>
                    <a:ext uri="{9D8B030D-6E8A-4147-A177-3AD203B41FA5}">
                      <a16:colId xmlns:a16="http://schemas.microsoft.com/office/drawing/2014/main" val="3335252908"/>
                    </a:ext>
                  </a:extLst>
                </a:gridCol>
                <a:gridCol w="2648346">
                  <a:extLst>
                    <a:ext uri="{9D8B030D-6E8A-4147-A177-3AD203B41FA5}">
                      <a16:colId xmlns:a16="http://schemas.microsoft.com/office/drawing/2014/main" val="273528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vi-VN"/>
                        <a:t>Tỉ lệ Train/Test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Số chiều tối ưu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F1-Macro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/>
                        <a:t>F1-Weighted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3621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8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80/20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0.6521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35713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8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70/30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0.6495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5549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8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60/40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0.6593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5287052"/>
                  </a:ext>
                </a:extLst>
              </a:tr>
            </a:tbl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A6CA8C0-AF8C-1682-CA60-4C90E33AD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vi-VN" b="1"/>
              <a:t>Số chiều tối ưu cho Naive Bayes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93474-64CC-4FBB-B2C9-CA6CA6978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3F5F-E228-416B-BB6D-31EFB88A1F2E}" type="slidenum">
              <a:rPr lang="vi-VN" smtClean="0"/>
              <a:t>31</a:t>
            </a:fld>
            <a:endParaRPr lang="vi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A362A4-AD0A-36AF-55D4-9FA835EDD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IV. Kết quả và đánh giá</a:t>
            </a:r>
          </a:p>
        </p:txBody>
      </p:sp>
    </p:spTree>
    <p:extLst>
      <p:ext uri="{BB962C8B-B14F-4D97-AF65-F5344CB8AC3E}">
        <p14:creationId xmlns:p14="http://schemas.microsoft.com/office/powerpoint/2010/main" val="3489938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C80F7A4-203B-1448-35EF-78940AEF4F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9860818"/>
              </p:ext>
            </p:extLst>
          </p:nvPr>
        </p:nvGraphicFramePr>
        <p:xfrm>
          <a:off x="836613" y="1828800"/>
          <a:ext cx="10593384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6112">
                  <a:extLst>
                    <a:ext uri="{9D8B030D-6E8A-4147-A177-3AD203B41FA5}">
                      <a16:colId xmlns:a16="http://schemas.microsoft.com/office/drawing/2014/main" val="2097671681"/>
                    </a:ext>
                  </a:extLst>
                </a:gridCol>
                <a:gridCol w="2892424">
                  <a:extLst>
                    <a:ext uri="{9D8B030D-6E8A-4147-A177-3AD203B41FA5}">
                      <a16:colId xmlns:a16="http://schemas.microsoft.com/office/drawing/2014/main" val="674252707"/>
                    </a:ext>
                  </a:extLst>
                </a:gridCol>
                <a:gridCol w="2892424">
                  <a:extLst>
                    <a:ext uri="{9D8B030D-6E8A-4147-A177-3AD203B41FA5}">
                      <a16:colId xmlns:a16="http://schemas.microsoft.com/office/drawing/2014/main" val="3881128817"/>
                    </a:ext>
                  </a:extLst>
                </a:gridCol>
                <a:gridCol w="2892424">
                  <a:extLst>
                    <a:ext uri="{9D8B030D-6E8A-4147-A177-3AD203B41FA5}">
                      <a16:colId xmlns:a16="http://schemas.microsoft.com/office/drawing/2014/main" val="1315874106"/>
                    </a:ext>
                  </a:extLst>
                </a:gridCol>
              </a:tblGrid>
              <a:tr h="305435">
                <a:tc rowSpan="2">
                  <a:txBody>
                    <a:bodyPr/>
                    <a:lstStyle/>
                    <a:p>
                      <a:pPr algn="l"/>
                      <a:r>
                        <a:rPr lang="vi-VN"/>
                        <a:t>Tỉ lệ train/test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/>
                        <a:t>Hiệu suất tốt nhất của KNN theo các chiều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2035921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0" i="1"/>
                        <a:t>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0" i="1"/>
                        <a:t>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b="0" i="1"/>
                        <a:t>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0494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8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80/20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5777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8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70/30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9253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18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60/40</a:t>
                      </a:r>
                    </a:p>
                  </a:txBody>
                  <a:tcPr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5723436"/>
                  </a:ext>
                </a:extLst>
              </a:tr>
            </a:tbl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25888EB-2594-E790-2361-E220A6ACD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vi-VN"/>
              <a:t>Hiệu suất tốt nhất của KNN trong bài toán hồi quy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D6C4A0-B820-87D2-BEE7-ED52E4481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3F5F-E228-416B-BB6D-31EFB88A1F2E}" type="slidenum">
              <a:rPr lang="vi-VN" smtClean="0"/>
              <a:t>32</a:t>
            </a:fld>
            <a:endParaRPr lang="vi-V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49DDA24-6FEC-8A89-B997-00F3CACBA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IV. Kết quả và đánh giá</a:t>
            </a:r>
          </a:p>
        </p:txBody>
      </p:sp>
    </p:spTree>
    <p:extLst>
      <p:ext uri="{BB962C8B-B14F-4D97-AF65-F5344CB8AC3E}">
        <p14:creationId xmlns:p14="http://schemas.microsoft.com/office/powerpoint/2010/main" val="2667778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6BCE25E-D6DD-28B5-096C-4EF111EE95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4338395"/>
              </p:ext>
            </p:extLst>
          </p:nvPr>
        </p:nvGraphicFramePr>
        <p:xfrm>
          <a:off x="836613" y="1828800"/>
          <a:ext cx="10593387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087">
                  <a:extLst>
                    <a:ext uri="{9D8B030D-6E8A-4147-A177-3AD203B41FA5}">
                      <a16:colId xmlns:a16="http://schemas.microsoft.com/office/drawing/2014/main" val="3261717526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3148075846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1343631371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3530473543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1793095959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1165783835"/>
                    </a:ext>
                  </a:extLst>
                </a:gridCol>
                <a:gridCol w="1670050">
                  <a:extLst>
                    <a:ext uri="{9D8B030D-6E8A-4147-A177-3AD203B41FA5}">
                      <a16:colId xmlns:a16="http://schemas.microsoft.com/office/drawing/2014/main" val="234818849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pPr algn="ctr"/>
                      <a:r>
                        <a:rPr lang="vi-VN"/>
                        <a:t>K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vi-VN"/>
                        <a:t>768 chiều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vi-VN"/>
                        <a:t>256 chiều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vi-VN"/>
                        <a:t>64 chiều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58605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R</a:t>
                      </a:r>
                      <a:r>
                        <a:rPr lang="vi-VN" i="1" baseline="30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R</a:t>
                      </a:r>
                      <a:r>
                        <a:rPr lang="vi-VN" i="1" baseline="30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R</a:t>
                      </a:r>
                      <a:r>
                        <a:rPr lang="vi-VN" i="1" baseline="300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1509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i="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0.894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81418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i="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49570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i="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9224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i="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4573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i="1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89918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i="1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92460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i="1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8799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i="1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798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i="1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3125475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2457A-526A-1F22-BC14-3E1E94D2D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vi-VN"/>
              <a:t>Hiệu suất KNN (tỉ lệ 80/20) theo tham số K trong bài toán hồi quy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1EADA-8DB8-682B-EDF1-EDA053752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3F5F-E228-416B-BB6D-31EFB88A1F2E}" type="slidenum">
              <a:rPr lang="vi-VN" smtClean="0"/>
              <a:t>33</a:t>
            </a:fld>
            <a:endParaRPr lang="vi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63CB8C-7C5E-C702-1FA9-0E6CA9F00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IV. Kết quả và đánh giá</a:t>
            </a:r>
          </a:p>
        </p:txBody>
      </p:sp>
    </p:spTree>
    <p:extLst>
      <p:ext uri="{BB962C8B-B14F-4D97-AF65-F5344CB8AC3E}">
        <p14:creationId xmlns:p14="http://schemas.microsoft.com/office/powerpoint/2010/main" val="96627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FEBAA32-717C-6F1C-98EB-877383D86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403297"/>
              </p:ext>
            </p:extLst>
          </p:nvPr>
        </p:nvGraphicFramePr>
        <p:xfrm>
          <a:off x="836613" y="1828800"/>
          <a:ext cx="10593384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362">
                  <a:extLst>
                    <a:ext uri="{9D8B030D-6E8A-4147-A177-3AD203B41FA5}">
                      <a16:colId xmlns:a16="http://schemas.microsoft.com/office/drawing/2014/main" val="3849700720"/>
                    </a:ext>
                  </a:extLst>
                </a:gridCol>
                <a:gridCol w="1557337">
                  <a:extLst>
                    <a:ext uri="{9D8B030D-6E8A-4147-A177-3AD203B41FA5}">
                      <a16:colId xmlns:a16="http://schemas.microsoft.com/office/drawing/2014/main" val="3078165263"/>
                    </a:ext>
                  </a:extLst>
                </a:gridCol>
                <a:gridCol w="1557337">
                  <a:extLst>
                    <a:ext uri="{9D8B030D-6E8A-4147-A177-3AD203B41FA5}">
                      <a16:colId xmlns:a16="http://schemas.microsoft.com/office/drawing/2014/main" val="2315557305"/>
                    </a:ext>
                  </a:extLst>
                </a:gridCol>
                <a:gridCol w="1557337">
                  <a:extLst>
                    <a:ext uri="{9D8B030D-6E8A-4147-A177-3AD203B41FA5}">
                      <a16:colId xmlns:a16="http://schemas.microsoft.com/office/drawing/2014/main" val="2141176944"/>
                    </a:ext>
                  </a:extLst>
                </a:gridCol>
                <a:gridCol w="1557337">
                  <a:extLst>
                    <a:ext uri="{9D8B030D-6E8A-4147-A177-3AD203B41FA5}">
                      <a16:colId xmlns:a16="http://schemas.microsoft.com/office/drawing/2014/main" val="1977133540"/>
                    </a:ext>
                  </a:extLst>
                </a:gridCol>
                <a:gridCol w="1557337">
                  <a:extLst>
                    <a:ext uri="{9D8B030D-6E8A-4147-A177-3AD203B41FA5}">
                      <a16:colId xmlns:a16="http://schemas.microsoft.com/office/drawing/2014/main" val="1715628515"/>
                    </a:ext>
                  </a:extLst>
                </a:gridCol>
                <a:gridCol w="1557337">
                  <a:extLst>
                    <a:ext uri="{9D8B030D-6E8A-4147-A177-3AD203B41FA5}">
                      <a16:colId xmlns:a16="http://schemas.microsoft.com/office/drawing/2014/main" val="3270068539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r>
                        <a:rPr lang="vi-VN"/>
                        <a:t>Số chiều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vi-VN"/>
                        <a:t>80/20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vi-VN"/>
                        <a:t>70/30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vi-VN"/>
                        <a:t>60/40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836775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R</a:t>
                      </a:r>
                      <a:r>
                        <a:rPr lang="vi-VN" i="1" baseline="30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R</a:t>
                      </a:r>
                      <a:r>
                        <a:rPr lang="vi-VN" i="1" baseline="30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i="1"/>
                        <a:t>R</a:t>
                      </a:r>
                      <a:r>
                        <a:rPr lang="vi-VN" i="1" baseline="3000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1752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i="1"/>
                        <a:t>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0.988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0.985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75397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i="1"/>
                        <a:t>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0.969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0.969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776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i="1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0.009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40613077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E6953-DDC3-02BE-7117-C3035B7FB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vi-VN"/>
              <a:t>Kết quả của mô hình MLP trong bài toán hồi quy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48AF9-3BD7-6CDB-EFC0-46E58872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73F5F-E228-416B-BB6D-31EFB88A1F2E}" type="slidenum">
              <a:rPr lang="vi-VN" smtClean="0"/>
              <a:t>34</a:t>
            </a:fld>
            <a:endParaRPr lang="vi-V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A8F496-820A-2338-8663-4325F18AB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IV. Kết quả và đánh giá</a:t>
            </a:r>
          </a:p>
        </p:txBody>
      </p:sp>
    </p:spTree>
    <p:extLst>
      <p:ext uri="{BB962C8B-B14F-4D97-AF65-F5344CB8AC3E}">
        <p14:creationId xmlns:p14="http://schemas.microsoft.com/office/powerpoint/2010/main" val="4163864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67BCF6-A892-D952-3D6F-7333AFDB1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Cảm ơn vì đã lắng nghe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B419E-5A69-C5F7-35F5-354B45AD1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Nếu có câu hỏi nào, xin vui lòng đặt ra.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EF51A-958A-084E-F877-99869F7B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vi-VN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406279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2352</Words>
  <Application>Microsoft Office PowerPoint</Application>
  <PresentationFormat>Widescreen</PresentationFormat>
  <Paragraphs>835</Paragraphs>
  <Slides>35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Arial</vt:lpstr>
      <vt:lpstr>Cambria Math</vt:lpstr>
      <vt:lpstr>Times New Roman</vt:lpstr>
      <vt:lpstr>Office Theme</vt:lpstr>
      <vt:lpstr>Nhận diện từ loại trong văn bản Tiếng Việt</vt:lpstr>
      <vt:lpstr>Nhận diện từ loại trong văn bản Tiếng Việt</vt:lpstr>
      <vt:lpstr>Nội dung</vt:lpstr>
      <vt:lpstr>I. Giới thiệu bài toán</vt:lpstr>
      <vt:lpstr>I. Giới thiệu bài toán</vt:lpstr>
      <vt:lpstr>I. Giới thiệu bài toán</vt:lpstr>
      <vt:lpstr>I. Giới thiệu bài toán</vt:lpstr>
      <vt:lpstr>II. Dữ liệu và tiền xử lý</vt:lpstr>
      <vt:lpstr>II. Dữ liệu và tiền xử lý</vt:lpstr>
      <vt:lpstr>II. Dữ liệu và tiền xử lý</vt:lpstr>
      <vt:lpstr>II. Dữ liệu và tiền xử lý</vt:lpstr>
      <vt:lpstr>II. Dữ liệu và tiền xử lý</vt:lpstr>
      <vt:lpstr>II. Dữ liệu và tiền xử lý</vt:lpstr>
      <vt:lpstr>II. Dữ liệu và tiền xử lý</vt:lpstr>
      <vt:lpstr>II. Dữ liệu và tiền xử lý</vt:lpstr>
      <vt:lpstr>II. Dữ liệu và tiền xử lý</vt:lpstr>
      <vt:lpstr>III. Phương pháp thực hiện</vt:lpstr>
      <vt:lpstr>III. Phương pháp thực hiện</vt:lpstr>
      <vt:lpstr>III. Phương pháp thực hiện</vt:lpstr>
      <vt:lpstr>III. Phương pháp thực hiện</vt:lpstr>
      <vt:lpstr>IV. Kết quả và đánh giá</vt:lpstr>
      <vt:lpstr>IV. Kết quả và đánh giá</vt:lpstr>
      <vt:lpstr>IV. Kết quả và đánh giá</vt:lpstr>
      <vt:lpstr>IV. Kết quả và đánh giá</vt:lpstr>
      <vt:lpstr>IV. Kết quả và đánh giá</vt:lpstr>
      <vt:lpstr>IV. Kết quả và đánh giá</vt:lpstr>
      <vt:lpstr>IV. Kết quả và đánh giá</vt:lpstr>
      <vt:lpstr>IV. Kết quả và đánh giá</vt:lpstr>
      <vt:lpstr>IV. Kết quả và đánh giá</vt:lpstr>
      <vt:lpstr>IV. Kết quả và đánh giá</vt:lpstr>
      <vt:lpstr>IV. Kết quả và đánh giá</vt:lpstr>
      <vt:lpstr>IV. Kết quả và đánh giá</vt:lpstr>
      <vt:lpstr>IV. Kết quả và đánh giá</vt:lpstr>
      <vt:lpstr>IV. Kết quả và đánh giá</vt:lpstr>
      <vt:lpstr>Cảm ơn vì đã lắng nghe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Dang Hung</dc:creator>
  <cp:lastModifiedBy>Dang Hung</cp:lastModifiedBy>
  <cp:revision>23</cp:revision>
  <dcterms:created xsi:type="dcterms:W3CDTF">2025-11-11T06:34:24Z</dcterms:created>
  <dcterms:modified xsi:type="dcterms:W3CDTF">2026-01-10T10:46:38Z</dcterms:modified>
</cp:coreProperties>
</file>